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Sinha" userId="f0437aaae935e68d" providerId="LiveId" clId="{D2698B26-9392-4F32-90E8-674201259B34}"/>
    <pc:docChg chg="modSld">
      <pc:chgData name="Abhishek Sinha" userId="f0437aaae935e68d" providerId="LiveId" clId="{D2698B26-9392-4F32-90E8-674201259B34}" dt="2026-06-19T01:02:41.105" v="2" actId="1076"/>
      <pc:docMkLst>
        <pc:docMk/>
      </pc:docMkLst>
      <pc:sldChg chg="modSp mod">
        <pc:chgData name="Abhishek Sinha" userId="f0437aaae935e68d" providerId="LiveId" clId="{D2698B26-9392-4F32-90E8-674201259B34}" dt="2026-06-19T01:01:09.306" v="0" actId="20577"/>
        <pc:sldMkLst>
          <pc:docMk/>
          <pc:sldMk cId="0" sldId="256"/>
        </pc:sldMkLst>
        <pc:spChg chg="mod">
          <ac:chgData name="Abhishek Sinha" userId="f0437aaae935e68d" providerId="LiveId" clId="{D2698B26-9392-4F32-90E8-674201259B34}" dt="2026-06-19T01:01:09.306" v="0" actId="20577"/>
          <ac:spMkLst>
            <pc:docMk/>
            <pc:sldMk cId="0" sldId="256"/>
            <ac:spMk id="49" creationId="{00000000-0000-0000-0000-000000000000}"/>
          </ac:spMkLst>
        </pc:spChg>
      </pc:sldChg>
      <pc:sldChg chg="modSp mod">
        <pc:chgData name="Abhishek Sinha" userId="f0437aaae935e68d" providerId="LiveId" clId="{D2698B26-9392-4F32-90E8-674201259B34}" dt="2026-06-19T01:01:35.184" v="1" actId="1076"/>
        <pc:sldMkLst>
          <pc:docMk/>
          <pc:sldMk cId="0" sldId="261"/>
        </pc:sldMkLst>
        <pc:spChg chg="mod">
          <ac:chgData name="Abhishek Sinha" userId="f0437aaae935e68d" providerId="LiveId" clId="{D2698B26-9392-4F32-90E8-674201259B34}" dt="2026-06-19T01:01:35.184" v="1" actId="1076"/>
          <ac:spMkLst>
            <pc:docMk/>
            <pc:sldMk cId="0" sldId="261"/>
            <ac:spMk id="30" creationId="{00000000-0000-0000-0000-000000000000}"/>
          </ac:spMkLst>
        </pc:spChg>
      </pc:sldChg>
      <pc:sldChg chg="modSp mod">
        <pc:chgData name="Abhishek Sinha" userId="f0437aaae935e68d" providerId="LiveId" clId="{D2698B26-9392-4F32-90E8-674201259B34}" dt="2026-06-19T01:02:41.105" v="2" actId="1076"/>
        <pc:sldMkLst>
          <pc:docMk/>
          <pc:sldMk cId="0" sldId="264"/>
        </pc:sldMkLst>
        <pc:spChg chg="mod">
          <ac:chgData name="Abhishek Sinha" userId="f0437aaae935e68d" providerId="LiveId" clId="{D2698B26-9392-4F32-90E8-674201259B34}" dt="2026-06-19T01:02:41.105" v="2" actId="1076"/>
          <ac:spMkLst>
            <pc:docMk/>
            <pc:sldMk cId="0" sldId="264"/>
            <ac:spMk id="4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5563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core claim: this is a working platform, live today, built using AI. The twin message: AI was used to BUILD this platform, and AI now OPERATES within each of its 11 layers. That is the architectural inversion that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dimensions where the current model fails: building is too slow and expensive, operating requires too much human bandwidth, and evolving requires constant platform updates.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four headline stats. The '0 autonomous irreversible actions' is the governance proof-point — contrast it with everything the agents found and did.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platform capability map. Foundation layers build the data picture; Operational layers automate the workflows; Governance layer ensures nothing irreversible happens without human sign-off.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makes the economics visible. AI compresses the build cycle from 12-24 months to weeks. It also makes bespoke configuration affordable — you are not buying a generic platform and customising it; you are building exactly what you need.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If pressed for time, go straight to Layer 11 — the DPO governance queue shows the entire governance architecture in under 2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two value propositions. CDO/CTO: rethink the economics of building privacy tech. CPO/DPO: rethink the operational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enabling forces: the protocol (MCP), the model capability (LLMs), and the regulatory pressure. All three are active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 Wallace is the proof of concept within the proof of concept. One fictional data subject whose record surfaces a violation in every layer. Every scenario in the platform is realistic and multi-layered.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5760720" y="0"/>
            <a:ext cx="3383280" cy="5143500"/>
          </a:xfrm>
          <a:prstGeom prst="rect">
            <a:avLst/>
          </a:prstGeom>
          <a:solidFill>
            <a:srgbClr val="1E2761">
              <a:alpha val="65000"/>
            </a:srgbClr>
          </a:solidFill>
          <a:ln w="12700">
            <a:solidFill>
              <a:srgbClr val="141B4D"/>
            </a:solidFill>
            <a:prstDash val="solid"/>
          </a:ln>
        </p:spPr>
        <p:txBody>
          <a:bodyPr/>
          <a:lstStyle/>
          <a:p>
            <a:endParaRPr lang="en-AU"/>
          </a:p>
        </p:txBody>
      </p:sp>
      <p:sp>
        <p:nvSpPr>
          <p:cNvPr id="3" name="Shape 1"/>
          <p:cNvSpPr/>
          <p:nvPr/>
        </p:nvSpPr>
        <p:spPr>
          <a:xfrm>
            <a:off x="6016752" y="38404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4" name="Shape 2"/>
          <p:cNvSpPr/>
          <p:nvPr/>
        </p:nvSpPr>
        <p:spPr>
          <a:xfrm>
            <a:off x="6583680" y="38404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5" name="Shape 3"/>
          <p:cNvSpPr/>
          <p:nvPr/>
        </p:nvSpPr>
        <p:spPr>
          <a:xfrm>
            <a:off x="7150608" y="38404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6" name="Shape 4"/>
          <p:cNvSpPr/>
          <p:nvPr/>
        </p:nvSpPr>
        <p:spPr>
          <a:xfrm>
            <a:off x="7717536" y="38404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7" name="Shape 5"/>
          <p:cNvSpPr/>
          <p:nvPr/>
        </p:nvSpPr>
        <p:spPr>
          <a:xfrm>
            <a:off x="8284464" y="38404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8" name="Shape 6"/>
          <p:cNvSpPr/>
          <p:nvPr/>
        </p:nvSpPr>
        <p:spPr>
          <a:xfrm>
            <a:off x="6016752" y="96926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9" name="Shape 7"/>
          <p:cNvSpPr/>
          <p:nvPr/>
        </p:nvSpPr>
        <p:spPr>
          <a:xfrm>
            <a:off x="6583680" y="96926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0" name="Shape 8"/>
          <p:cNvSpPr/>
          <p:nvPr/>
        </p:nvSpPr>
        <p:spPr>
          <a:xfrm>
            <a:off x="7150608" y="96926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1" name="Shape 9"/>
          <p:cNvSpPr/>
          <p:nvPr/>
        </p:nvSpPr>
        <p:spPr>
          <a:xfrm>
            <a:off x="7717536" y="96926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2" name="Shape 10"/>
          <p:cNvSpPr/>
          <p:nvPr/>
        </p:nvSpPr>
        <p:spPr>
          <a:xfrm>
            <a:off x="8284464" y="96926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3" name="Shape 11"/>
          <p:cNvSpPr/>
          <p:nvPr/>
        </p:nvSpPr>
        <p:spPr>
          <a:xfrm>
            <a:off x="6016752" y="155448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4" name="Shape 12"/>
          <p:cNvSpPr/>
          <p:nvPr/>
        </p:nvSpPr>
        <p:spPr>
          <a:xfrm>
            <a:off x="6583680" y="155448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5" name="Shape 13"/>
          <p:cNvSpPr/>
          <p:nvPr/>
        </p:nvSpPr>
        <p:spPr>
          <a:xfrm>
            <a:off x="7150608" y="155448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6" name="Shape 14"/>
          <p:cNvSpPr/>
          <p:nvPr/>
        </p:nvSpPr>
        <p:spPr>
          <a:xfrm>
            <a:off x="7717536" y="155448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7" name="Shape 15"/>
          <p:cNvSpPr/>
          <p:nvPr/>
        </p:nvSpPr>
        <p:spPr>
          <a:xfrm>
            <a:off x="8284464" y="155448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8" name="Shape 16"/>
          <p:cNvSpPr/>
          <p:nvPr/>
        </p:nvSpPr>
        <p:spPr>
          <a:xfrm>
            <a:off x="6016752" y="2139696"/>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19" name="Shape 17"/>
          <p:cNvSpPr/>
          <p:nvPr/>
        </p:nvSpPr>
        <p:spPr>
          <a:xfrm>
            <a:off x="6583680" y="2139696"/>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0" name="Shape 18"/>
          <p:cNvSpPr/>
          <p:nvPr/>
        </p:nvSpPr>
        <p:spPr>
          <a:xfrm>
            <a:off x="7150608" y="2139696"/>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1" name="Shape 19"/>
          <p:cNvSpPr/>
          <p:nvPr/>
        </p:nvSpPr>
        <p:spPr>
          <a:xfrm>
            <a:off x="7717536" y="2139696"/>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2" name="Shape 20"/>
          <p:cNvSpPr/>
          <p:nvPr/>
        </p:nvSpPr>
        <p:spPr>
          <a:xfrm>
            <a:off x="8284464" y="2139696"/>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3" name="Shape 21"/>
          <p:cNvSpPr/>
          <p:nvPr/>
        </p:nvSpPr>
        <p:spPr>
          <a:xfrm>
            <a:off x="6016752" y="2724912"/>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4" name="Shape 22"/>
          <p:cNvSpPr/>
          <p:nvPr/>
        </p:nvSpPr>
        <p:spPr>
          <a:xfrm>
            <a:off x="6583680" y="2724912"/>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5" name="Shape 23"/>
          <p:cNvSpPr/>
          <p:nvPr/>
        </p:nvSpPr>
        <p:spPr>
          <a:xfrm>
            <a:off x="7150608" y="2724912"/>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6" name="Shape 24"/>
          <p:cNvSpPr/>
          <p:nvPr/>
        </p:nvSpPr>
        <p:spPr>
          <a:xfrm>
            <a:off x="7717536" y="2724912"/>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7" name="Shape 25"/>
          <p:cNvSpPr/>
          <p:nvPr/>
        </p:nvSpPr>
        <p:spPr>
          <a:xfrm>
            <a:off x="8284464" y="2724912"/>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8" name="Shape 26"/>
          <p:cNvSpPr/>
          <p:nvPr/>
        </p:nvSpPr>
        <p:spPr>
          <a:xfrm>
            <a:off x="6016752" y="331012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29" name="Shape 27"/>
          <p:cNvSpPr/>
          <p:nvPr/>
        </p:nvSpPr>
        <p:spPr>
          <a:xfrm>
            <a:off x="6583680" y="331012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0" name="Shape 28"/>
          <p:cNvSpPr/>
          <p:nvPr/>
        </p:nvSpPr>
        <p:spPr>
          <a:xfrm>
            <a:off x="7150608" y="331012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1" name="Shape 29"/>
          <p:cNvSpPr/>
          <p:nvPr/>
        </p:nvSpPr>
        <p:spPr>
          <a:xfrm>
            <a:off x="7717536" y="331012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2" name="Shape 30"/>
          <p:cNvSpPr/>
          <p:nvPr/>
        </p:nvSpPr>
        <p:spPr>
          <a:xfrm>
            <a:off x="8284464" y="3310128"/>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3" name="Shape 31"/>
          <p:cNvSpPr/>
          <p:nvPr/>
        </p:nvSpPr>
        <p:spPr>
          <a:xfrm>
            <a:off x="6016752" y="389534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4" name="Shape 32"/>
          <p:cNvSpPr/>
          <p:nvPr/>
        </p:nvSpPr>
        <p:spPr>
          <a:xfrm>
            <a:off x="6583680" y="389534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5" name="Shape 33"/>
          <p:cNvSpPr/>
          <p:nvPr/>
        </p:nvSpPr>
        <p:spPr>
          <a:xfrm>
            <a:off x="7150608" y="389534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6" name="Shape 34"/>
          <p:cNvSpPr/>
          <p:nvPr/>
        </p:nvSpPr>
        <p:spPr>
          <a:xfrm>
            <a:off x="7717536" y="389534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7" name="Shape 35"/>
          <p:cNvSpPr/>
          <p:nvPr/>
        </p:nvSpPr>
        <p:spPr>
          <a:xfrm>
            <a:off x="8284464" y="3895344"/>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8" name="Shape 36"/>
          <p:cNvSpPr/>
          <p:nvPr/>
        </p:nvSpPr>
        <p:spPr>
          <a:xfrm>
            <a:off x="6016752" y="448056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39" name="Shape 37"/>
          <p:cNvSpPr/>
          <p:nvPr/>
        </p:nvSpPr>
        <p:spPr>
          <a:xfrm>
            <a:off x="6583680" y="448056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40" name="Shape 38"/>
          <p:cNvSpPr/>
          <p:nvPr/>
        </p:nvSpPr>
        <p:spPr>
          <a:xfrm>
            <a:off x="7150608" y="448056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41" name="Shape 39"/>
          <p:cNvSpPr/>
          <p:nvPr/>
        </p:nvSpPr>
        <p:spPr>
          <a:xfrm>
            <a:off x="7717536" y="448056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42" name="Shape 40"/>
          <p:cNvSpPr/>
          <p:nvPr/>
        </p:nvSpPr>
        <p:spPr>
          <a:xfrm>
            <a:off x="8284464" y="4480560"/>
            <a:ext cx="73152" cy="73152"/>
          </a:xfrm>
          <a:prstGeom prst="ellipse">
            <a:avLst/>
          </a:prstGeom>
          <a:solidFill>
            <a:srgbClr val="3A7BD5">
              <a:alpha val="45000"/>
            </a:srgbClr>
          </a:solidFill>
          <a:ln w="12700">
            <a:solidFill>
              <a:srgbClr val="3A7BD5"/>
            </a:solidFill>
            <a:prstDash val="solid"/>
          </a:ln>
        </p:spPr>
        <p:txBody>
          <a:bodyPr/>
          <a:lstStyle/>
          <a:p>
            <a:endParaRPr lang="en-AU"/>
          </a:p>
        </p:txBody>
      </p:sp>
      <p:sp>
        <p:nvSpPr>
          <p:cNvPr id="43" name="Shape 41"/>
          <p:cNvSpPr/>
          <p:nvPr/>
        </p:nvSpPr>
        <p:spPr>
          <a:xfrm>
            <a:off x="457200" y="420624"/>
            <a:ext cx="2011680" cy="310896"/>
          </a:xfrm>
          <a:prstGeom prst="roundRect">
            <a:avLst>
              <a:gd name="adj" fmla="val 17647"/>
            </a:avLst>
          </a:prstGeom>
          <a:solidFill>
            <a:srgbClr val="3A7BD5"/>
          </a:solidFill>
          <a:ln w="12700">
            <a:solidFill>
              <a:srgbClr val="3A7BD5"/>
            </a:solidFill>
            <a:prstDash val="solid"/>
          </a:ln>
        </p:spPr>
        <p:txBody>
          <a:bodyPr/>
          <a:lstStyle/>
          <a:p>
            <a:endParaRPr lang="en-AU"/>
          </a:p>
        </p:txBody>
      </p:sp>
      <p:sp>
        <p:nvSpPr>
          <p:cNvPr id="44" name="Text 42"/>
          <p:cNvSpPr/>
          <p:nvPr/>
        </p:nvSpPr>
        <p:spPr>
          <a:xfrm>
            <a:off x="457200" y="420624"/>
            <a:ext cx="201168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rPr>
              <a:t>LIVE WORKING POC</a:t>
            </a:r>
            <a:endParaRPr lang="en-US" sz="950" dirty="0"/>
          </a:p>
        </p:txBody>
      </p:sp>
      <p:sp>
        <p:nvSpPr>
          <p:cNvPr id="45" name="Text 43"/>
          <p:cNvSpPr/>
          <p:nvPr/>
        </p:nvSpPr>
        <p:spPr>
          <a:xfrm>
            <a:off x="457200" y="868680"/>
            <a:ext cx="5120640" cy="64008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AI-Native Governance &amp;</a:t>
            </a:r>
            <a:endParaRPr lang="en-US" sz="3200" dirty="0"/>
          </a:p>
        </p:txBody>
      </p:sp>
      <p:sp>
        <p:nvSpPr>
          <p:cNvPr id="46" name="Text 44"/>
          <p:cNvSpPr/>
          <p:nvPr/>
        </p:nvSpPr>
        <p:spPr>
          <a:xfrm>
            <a:off x="457200" y="1481328"/>
            <a:ext cx="5120640" cy="64008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Privacy Management Platform</a:t>
            </a:r>
            <a:endParaRPr lang="en-US" sz="3200" dirty="0"/>
          </a:p>
        </p:txBody>
      </p:sp>
      <p:sp>
        <p:nvSpPr>
          <p:cNvPr id="47" name="Text 45"/>
          <p:cNvSpPr/>
          <p:nvPr/>
        </p:nvSpPr>
        <p:spPr>
          <a:xfrm>
            <a:off x="457200" y="2148840"/>
            <a:ext cx="5120640" cy="365760"/>
          </a:xfrm>
          <a:prstGeom prst="rect">
            <a:avLst/>
          </a:prstGeom>
          <a:noFill/>
          <a:ln/>
        </p:spPr>
        <p:txBody>
          <a:bodyPr wrap="square" rtlCol="0" anchor="ctr"/>
          <a:lstStyle/>
          <a:p>
            <a:pPr marL="0" indent="0" algn="l">
              <a:buNone/>
            </a:pPr>
            <a:r>
              <a:rPr lang="en-US" sz="1600" i="1" dirty="0">
                <a:solidFill>
                  <a:srgbClr val="A8C4F0"/>
                </a:solidFill>
                <a:latin typeface="Cambria" pitchFamily="34" charset="0"/>
                <a:ea typeface="Cambria" pitchFamily="34" charset="-122"/>
                <a:cs typeface="Cambria" pitchFamily="34" charset="-120"/>
              </a:rPr>
              <a:t>A Functional Prototype Built with AI.</a:t>
            </a:r>
            <a:endParaRPr lang="en-US" sz="1600" dirty="0"/>
          </a:p>
        </p:txBody>
      </p:sp>
      <p:sp>
        <p:nvSpPr>
          <p:cNvPr id="48" name="Shape 46"/>
          <p:cNvSpPr/>
          <p:nvPr/>
        </p:nvSpPr>
        <p:spPr>
          <a:xfrm>
            <a:off x="457200" y="2596896"/>
            <a:ext cx="5120640" cy="749808"/>
          </a:xfrm>
          <a:prstGeom prst="roundRect">
            <a:avLst>
              <a:gd name="adj" fmla="val 9756"/>
            </a:avLst>
          </a:prstGeom>
          <a:solidFill>
            <a:srgbClr val="3A7BD5">
              <a:alpha val="75000"/>
            </a:srgbClr>
          </a:solidFill>
          <a:ln w="12700">
            <a:solidFill>
              <a:srgbClr val="6FA3E8"/>
            </a:solidFill>
            <a:prstDash val="solid"/>
          </a:ln>
        </p:spPr>
        <p:txBody>
          <a:bodyPr/>
          <a:lstStyle/>
          <a:p>
            <a:endParaRPr lang="en-AU"/>
          </a:p>
        </p:txBody>
      </p:sp>
      <p:sp>
        <p:nvSpPr>
          <p:cNvPr id="49" name="Text 47"/>
          <p:cNvSpPr/>
          <p:nvPr/>
        </p:nvSpPr>
        <p:spPr>
          <a:xfrm>
            <a:off x="457200" y="2596896"/>
            <a:ext cx="5120640" cy="749808"/>
          </a:xfrm>
          <a:prstGeom prst="rect">
            <a:avLst/>
          </a:prstGeom>
          <a:noFill/>
          <a:ln/>
        </p:spPr>
        <p:txBody>
          <a:bodyPr wrap="square" lIns="1270" tIns="1270" rIns="1270" bIns="1270" rtlCol="0" anchor="ctr"/>
          <a:lstStyle/>
          <a:p>
            <a:pPr marL="0" indent="0" algn="ctr">
              <a:buNone/>
            </a:pPr>
            <a:r>
              <a:rPr lang="en-US" sz="1350" b="1" i="1" dirty="0">
                <a:solidFill>
                  <a:srgbClr val="FFFFFF"/>
                </a:solidFill>
                <a:latin typeface="Cambria" pitchFamily="34" charset="0"/>
                <a:ea typeface="Cambria" pitchFamily="34" charset="-122"/>
                <a:cs typeface="Cambria" pitchFamily="34" charset="-120"/>
              </a:rPr>
              <a:t>"The question is no longer, 'can AI run privacy operations?'.</a:t>
            </a:r>
            <a:endParaRPr lang="en-US" sz="1350" dirty="0"/>
          </a:p>
          <a:p>
            <a:pPr marL="0" indent="0" algn="ctr">
              <a:buNone/>
            </a:pPr>
            <a:r>
              <a:rPr lang="en-US" sz="1350" b="1" i="1" dirty="0">
                <a:solidFill>
                  <a:srgbClr val="FFFFFF"/>
                </a:solidFill>
                <a:latin typeface="Cambria" pitchFamily="34" charset="0"/>
                <a:ea typeface="Cambria" pitchFamily="34" charset="-122"/>
                <a:cs typeface="Cambria" pitchFamily="34" charset="-120"/>
              </a:rPr>
              <a:t>We built the proof.</a:t>
            </a:r>
            <a:endParaRPr lang="en-US" sz="1350" dirty="0"/>
          </a:p>
        </p:txBody>
      </p:sp>
      <p:sp>
        <p:nvSpPr>
          <p:cNvPr id="50" name="Text 48"/>
          <p:cNvSpPr/>
          <p:nvPr/>
        </p:nvSpPr>
        <p:spPr>
          <a:xfrm>
            <a:off x="457200" y="3474720"/>
            <a:ext cx="5120640" cy="914400"/>
          </a:xfrm>
          <a:prstGeom prst="rect">
            <a:avLst/>
          </a:prstGeom>
          <a:noFill/>
          <a:ln/>
        </p:spPr>
        <p:txBody>
          <a:bodyPr wrap="square" rtlCol="0" anchor="t"/>
          <a:lstStyle/>
          <a:p>
            <a:pPr marL="0" indent="0" algn="l">
              <a:buNone/>
            </a:pPr>
            <a:r>
              <a:rPr lang="en-US" sz="1300" b="1" dirty="0">
                <a:solidFill>
                  <a:srgbClr val="FFFFFF"/>
                </a:solidFill>
              </a:rPr>
              <a:t>Abhishek Sinha</a:t>
            </a:r>
            <a:endParaRPr lang="en-US" sz="1300" dirty="0"/>
          </a:p>
          <a:p>
            <a:pPr marL="0" indent="0" algn="l">
              <a:buNone/>
            </a:pPr>
            <a:r>
              <a:rPr lang="en-US" sz="1100" dirty="0">
                <a:solidFill>
                  <a:srgbClr val="CADCFC"/>
                </a:solidFill>
              </a:rPr>
              <a:t>Data Governance, Privacy &amp; AI Convergence</a:t>
            </a:r>
            <a:endParaRPr lang="en-US" sz="1300" dirty="0"/>
          </a:p>
          <a:p>
            <a:pPr marL="0" indent="0" algn="l">
              <a:buNone/>
            </a:pPr>
            <a:r>
              <a:rPr lang="en-US" sz="1100" dirty="0">
                <a:solidFill>
                  <a:srgbClr val="CADCFC"/>
                </a:solidFill>
              </a:rPr>
              <a:t>PrivacyCo AI-Native Privacy Management Platform</a:t>
            </a:r>
            <a:endParaRPr lang="en-US" sz="1300" dirty="0"/>
          </a:p>
        </p:txBody>
      </p:sp>
      <p:sp>
        <p:nvSpPr>
          <p:cNvPr id="51" name="Text 49"/>
          <p:cNvSpPr/>
          <p:nvPr/>
        </p:nvSpPr>
        <p:spPr>
          <a:xfrm>
            <a:off x="457200" y="4443984"/>
            <a:ext cx="5120640" cy="256032"/>
          </a:xfrm>
          <a:prstGeom prst="rect">
            <a:avLst/>
          </a:prstGeom>
          <a:noFill/>
          <a:ln/>
        </p:spPr>
        <p:txBody>
          <a:bodyPr wrap="square" rtlCol="0" anchor="ctr"/>
          <a:lstStyle/>
          <a:p>
            <a:pPr marL="0" indent="0" algn="l">
              <a:buNone/>
            </a:pPr>
            <a:r>
              <a:rPr lang="en-US" sz="1000" i="1" u="sng" dirty="0">
                <a:solidFill>
                  <a:srgbClr val="6FA3E8"/>
                </a:solidFill>
              </a:rPr>
              <a:t>abhishekgovernance.github.io/Ai-Agent-Data-Privacy-Execution/</a:t>
            </a:r>
            <a:endParaRPr lang="en-US" sz="1000" dirty="0"/>
          </a:p>
        </p:txBody>
      </p:sp>
      <p:sp>
        <p:nvSpPr>
          <p:cNvPr id="52" name="Text 50"/>
          <p:cNvSpPr/>
          <p:nvPr/>
        </p:nvSpPr>
        <p:spPr>
          <a:xfrm>
            <a:off x="457200" y="4754880"/>
            <a:ext cx="5120640" cy="256032"/>
          </a:xfrm>
          <a:prstGeom prst="rect">
            <a:avLst/>
          </a:prstGeom>
          <a:noFill/>
          <a:ln/>
        </p:spPr>
        <p:txBody>
          <a:bodyPr wrap="square" rtlCol="0" anchor="ctr"/>
          <a:lstStyle/>
          <a:p>
            <a:pPr marL="0" indent="0" algn="l">
              <a:buNone/>
            </a:pPr>
            <a:r>
              <a:rPr lang="en-US" sz="1000" i="1" dirty="0">
                <a:solidFill>
                  <a:srgbClr val="7B9ED9"/>
                </a:solidFill>
              </a:rPr>
              <a:t>11 Operational Layers  |  4 Jurisdictions  |  Live on GitHub</a:t>
            </a:r>
            <a:endParaRPr lang="en-US" sz="1000" dirty="0"/>
          </a:p>
        </p:txBody>
      </p:sp>
      <p:sp>
        <p:nvSpPr>
          <p:cNvPr id="53" name="Text 51"/>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CADCFC"/>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THE PROBLEM</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Privacy Compliance Cannot Scale with Human Effort</a:t>
            </a:r>
            <a:endParaRPr lang="en-US" sz="22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2</a:t>
            </a:r>
            <a:endParaRPr lang="en-US" sz="900" dirty="0"/>
          </a:p>
        </p:txBody>
      </p:sp>
      <p:sp>
        <p:nvSpPr>
          <p:cNvPr id="6" name="Shape 4"/>
          <p:cNvSpPr/>
          <p:nvPr/>
        </p:nvSpPr>
        <p:spPr>
          <a:xfrm>
            <a:off x="320040" y="1078992"/>
            <a:ext cx="2724912" cy="3584448"/>
          </a:xfrm>
          <a:prstGeom prst="roundRect">
            <a:avLst>
              <a:gd name="adj" fmla="val 4027"/>
            </a:avLst>
          </a:prstGeom>
          <a:solidFill>
            <a:srgbClr val="E8EEF9"/>
          </a:solidFill>
          <a:ln w="12700">
            <a:solidFill>
              <a:srgbClr val="D0DCF5"/>
            </a:solidFill>
            <a:prstDash val="solid"/>
          </a:ln>
          <a:effectLst>
            <a:outerShdw blurRad="76200" dist="25400" dir="2700000" algn="bl" rotWithShape="0">
              <a:srgbClr val="1E2761">
                <a:alpha val="8000"/>
              </a:srgbClr>
            </a:outerShdw>
          </a:effectLst>
        </p:spPr>
        <p:txBody>
          <a:bodyPr/>
          <a:lstStyle/>
          <a:p>
            <a:endParaRPr lang="en-AU"/>
          </a:p>
        </p:txBody>
      </p:sp>
      <p:sp>
        <p:nvSpPr>
          <p:cNvPr id="7" name="Shape 5"/>
          <p:cNvSpPr/>
          <p:nvPr/>
        </p:nvSpPr>
        <p:spPr>
          <a:xfrm>
            <a:off x="320040" y="1078992"/>
            <a:ext cx="2724912" cy="128016"/>
          </a:xfrm>
          <a:prstGeom prst="roundRect">
            <a:avLst>
              <a:gd name="adj" fmla="val 85714"/>
            </a:avLst>
          </a:prstGeom>
          <a:solidFill>
            <a:srgbClr val="1E2761"/>
          </a:solidFill>
          <a:ln w="12700">
            <a:solidFill>
              <a:srgbClr val="1E2761"/>
            </a:solidFill>
            <a:prstDash val="solid"/>
          </a:ln>
        </p:spPr>
        <p:txBody>
          <a:bodyPr/>
          <a:lstStyle/>
          <a:p>
            <a:endParaRPr lang="en-AU"/>
          </a:p>
        </p:txBody>
      </p:sp>
      <p:sp>
        <p:nvSpPr>
          <p:cNvPr id="8" name="Shape 6"/>
          <p:cNvSpPr/>
          <p:nvPr/>
        </p:nvSpPr>
        <p:spPr>
          <a:xfrm>
            <a:off x="1261872" y="1261872"/>
            <a:ext cx="841248" cy="841248"/>
          </a:xfrm>
          <a:prstGeom prst="ellipse">
            <a:avLst/>
          </a:prstGeom>
          <a:solidFill>
            <a:srgbClr val="1E2761"/>
          </a:solidFill>
          <a:ln w="12700">
            <a:solidFill>
              <a:srgbClr val="1E2761"/>
            </a:solidFill>
            <a:prstDash val="solid"/>
          </a:ln>
        </p:spPr>
        <p:txBody>
          <a:bodyPr/>
          <a:lstStyle/>
          <a:p>
            <a:endParaRPr lang="en-AU"/>
          </a:p>
        </p:txBody>
      </p:sp>
      <p:sp>
        <p:nvSpPr>
          <p:cNvPr id="9" name="Text 7"/>
          <p:cNvSpPr/>
          <p:nvPr/>
        </p:nvSpPr>
        <p:spPr>
          <a:xfrm>
            <a:off x="1261872" y="1261872"/>
            <a:ext cx="841248" cy="8412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0" name="Text 8"/>
          <p:cNvSpPr/>
          <p:nvPr/>
        </p:nvSpPr>
        <p:spPr>
          <a:xfrm>
            <a:off x="320040" y="2212848"/>
            <a:ext cx="2724912" cy="402336"/>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Build</a:t>
            </a:r>
            <a:endParaRPr lang="en-US" sz="1700" dirty="0"/>
          </a:p>
        </p:txBody>
      </p:sp>
      <p:sp>
        <p:nvSpPr>
          <p:cNvPr id="11" name="Text 9"/>
          <p:cNvSpPr/>
          <p:nvPr/>
        </p:nvSpPr>
        <p:spPr>
          <a:xfrm>
            <a:off x="466344" y="2651760"/>
            <a:ext cx="2432304" cy="1920240"/>
          </a:xfrm>
          <a:prstGeom prst="rect">
            <a:avLst/>
          </a:prstGeom>
          <a:noFill/>
          <a:ln/>
        </p:spPr>
        <p:txBody>
          <a:bodyPr wrap="square" rtlCol="0" anchor="t"/>
          <a:lstStyle/>
          <a:p>
            <a:pPr marL="0" indent="0" algn="l">
              <a:buNone/>
            </a:pPr>
            <a:r>
              <a:rPr lang="en-US" sz="1200" dirty="0">
                <a:solidFill>
                  <a:srgbClr val="1A1A2E"/>
                </a:solidFill>
              </a:rPr>
              <a:t>Enterprise privacy platforms cost $500K to $2M+ and take 12-18 months to deploy. Bespoke configuration for each jurisdiction mix adds another cycle on top.</a:t>
            </a:r>
            <a:endParaRPr lang="en-US" sz="1200" dirty="0"/>
          </a:p>
        </p:txBody>
      </p:sp>
      <p:sp>
        <p:nvSpPr>
          <p:cNvPr id="12" name="Shape 10"/>
          <p:cNvSpPr/>
          <p:nvPr/>
        </p:nvSpPr>
        <p:spPr>
          <a:xfrm>
            <a:off x="3200400" y="1078992"/>
            <a:ext cx="2724912" cy="3584448"/>
          </a:xfrm>
          <a:prstGeom prst="roundRect">
            <a:avLst>
              <a:gd name="adj" fmla="val 4027"/>
            </a:avLst>
          </a:prstGeom>
          <a:solidFill>
            <a:srgbClr val="E8EEF9"/>
          </a:solidFill>
          <a:ln w="12700">
            <a:solidFill>
              <a:srgbClr val="D0DCF5"/>
            </a:solidFill>
            <a:prstDash val="solid"/>
          </a:ln>
          <a:effectLst>
            <a:outerShdw blurRad="76200" dist="25400" dir="2700000" algn="bl" rotWithShape="0">
              <a:srgbClr val="1E2761">
                <a:alpha val="8000"/>
              </a:srgbClr>
            </a:outerShdw>
          </a:effectLst>
        </p:spPr>
        <p:txBody>
          <a:bodyPr/>
          <a:lstStyle/>
          <a:p>
            <a:endParaRPr lang="en-AU"/>
          </a:p>
        </p:txBody>
      </p:sp>
      <p:sp>
        <p:nvSpPr>
          <p:cNvPr id="13" name="Shape 11"/>
          <p:cNvSpPr/>
          <p:nvPr/>
        </p:nvSpPr>
        <p:spPr>
          <a:xfrm>
            <a:off x="3200400" y="1078992"/>
            <a:ext cx="2724912" cy="128016"/>
          </a:xfrm>
          <a:prstGeom prst="roundRect">
            <a:avLst>
              <a:gd name="adj" fmla="val 85714"/>
            </a:avLst>
          </a:prstGeom>
          <a:solidFill>
            <a:srgbClr val="3A7BD5"/>
          </a:solidFill>
          <a:ln w="12700">
            <a:solidFill>
              <a:srgbClr val="3A7BD5"/>
            </a:solidFill>
            <a:prstDash val="solid"/>
          </a:ln>
        </p:spPr>
        <p:txBody>
          <a:bodyPr/>
          <a:lstStyle/>
          <a:p>
            <a:endParaRPr lang="en-AU"/>
          </a:p>
        </p:txBody>
      </p:sp>
      <p:sp>
        <p:nvSpPr>
          <p:cNvPr id="14" name="Shape 12"/>
          <p:cNvSpPr/>
          <p:nvPr/>
        </p:nvSpPr>
        <p:spPr>
          <a:xfrm>
            <a:off x="4142232" y="1261872"/>
            <a:ext cx="841248" cy="841248"/>
          </a:xfrm>
          <a:prstGeom prst="ellipse">
            <a:avLst/>
          </a:prstGeom>
          <a:solidFill>
            <a:srgbClr val="3A7BD5"/>
          </a:solidFill>
          <a:ln w="12700">
            <a:solidFill>
              <a:srgbClr val="3A7BD5"/>
            </a:solidFill>
            <a:prstDash val="solid"/>
          </a:ln>
        </p:spPr>
        <p:txBody>
          <a:bodyPr/>
          <a:lstStyle/>
          <a:p>
            <a:endParaRPr lang="en-AU"/>
          </a:p>
        </p:txBody>
      </p:sp>
      <p:sp>
        <p:nvSpPr>
          <p:cNvPr id="15" name="Text 13"/>
          <p:cNvSpPr/>
          <p:nvPr/>
        </p:nvSpPr>
        <p:spPr>
          <a:xfrm>
            <a:off x="4142232" y="1261872"/>
            <a:ext cx="841248" cy="8412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a:t>
            </a:r>
            <a:endParaRPr lang="en-US" sz="1800" dirty="0"/>
          </a:p>
        </p:txBody>
      </p:sp>
      <p:sp>
        <p:nvSpPr>
          <p:cNvPr id="16" name="Text 14"/>
          <p:cNvSpPr/>
          <p:nvPr/>
        </p:nvSpPr>
        <p:spPr>
          <a:xfrm>
            <a:off x="3200400" y="2212848"/>
            <a:ext cx="2724912" cy="402336"/>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Operate</a:t>
            </a:r>
            <a:endParaRPr lang="en-US" sz="1700" dirty="0"/>
          </a:p>
        </p:txBody>
      </p:sp>
      <p:sp>
        <p:nvSpPr>
          <p:cNvPr id="17" name="Text 15"/>
          <p:cNvSpPr/>
          <p:nvPr/>
        </p:nvSpPr>
        <p:spPr>
          <a:xfrm>
            <a:off x="3346704" y="2651760"/>
            <a:ext cx="2432304" cy="1920240"/>
          </a:xfrm>
          <a:prstGeom prst="rect">
            <a:avLst/>
          </a:prstGeom>
          <a:noFill/>
          <a:ln/>
        </p:spPr>
        <p:txBody>
          <a:bodyPr wrap="square" rtlCol="0" anchor="t"/>
          <a:lstStyle/>
          <a:p>
            <a:pPr marL="0" indent="0" algn="l">
              <a:buNone/>
            </a:pPr>
            <a:r>
              <a:rPr lang="en-US" sz="1200" dirty="0">
                <a:solidFill>
                  <a:srgbClr val="1A1A2E"/>
                </a:solidFill>
              </a:rPr>
              <a:t>DSR queues grow. Breach notification windows lapse. Consent revocations take days to propagate. Every workflow requires trained humans at every step.</a:t>
            </a:r>
            <a:endParaRPr lang="en-US" sz="1200" dirty="0"/>
          </a:p>
        </p:txBody>
      </p:sp>
      <p:sp>
        <p:nvSpPr>
          <p:cNvPr id="18" name="Shape 16"/>
          <p:cNvSpPr/>
          <p:nvPr/>
        </p:nvSpPr>
        <p:spPr>
          <a:xfrm>
            <a:off x="6080760" y="1078992"/>
            <a:ext cx="2724912" cy="3584448"/>
          </a:xfrm>
          <a:prstGeom prst="roundRect">
            <a:avLst>
              <a:gd name="adj" fmla="val 4027"/>
            </a:avLst>
          </a:prstGeom>
          <a:solidFill>
            <a:srgbClr val="E8EEF9"/>
          </a:solidFill>
          <a:ln w="12700">
            <a:solidFill>
              <a:srgbClr val="D0DCF5"/>
            </a:solidFill>
            <a:prstDash val="solid"/>
          </a:ln>
          <a:effectLst>
            <a:outerShdw blurRad="76200" dist="25400" dir="2700000" algn="bl" rotWithShape="0">
              <a:srgbClr val="1E2761">
                <a:alpha val="8000"/>
              </a:srgbClr>
            </a:outerShdw>
          </a:effectLst>
        </p:spPr>
        <p:txBody>
          <a:bodyPr/>
          <a:lstStyle/>
          <a:p>
            <a:endParaRPr lang="en-AU"/>
          </a:p>
        </p:txBody>
      </p:sp>
      <p:sp>
        <p:nvSpPr>
          <p:cNvPr id="19" name="Shape 17"/>
          <p:cNvSpPr/>
          <p:nvPr/>
        </p:nvSpPr>
        <p:spPr>
          <a:xfrm>
            <a:off x="6080760" y="1078992"/>
            <a:ext cx="2724912" cy="128016"/>
          </a:xfrm>
          <a:prstGeom prst="roundRect">
            <a:avLst>
              <a:gd name="adj" fmla="val 85714"/>
            </a:avLst>
          </a:prstGeom>
          <a:solidFill>
            <a:srgbClr val="DC2626"/>
          </a:solidFill>
          <a:ln w="12700">
            <a:solidFill>
              <a:srgbClr val="DC2626"/>
            </a:solidFill>
            <a:prstDash val="solid"/>
          </a:ln>
        </p:spPr>
        <p:txBody>
          <a:bodyPr/>
          <a:lstStyle/>
          <a:p>
            <a:endParaRPr lang="en-AU"/>
          </a:p>
        </p:txBody>
      </p:sp>
      <p:sp>
        <p:nvSpPr>
          <p:cNvPr id="20" name="Shape 18"/>
          <p:cNvSpPr/>
          <p:nvPr/>
        </p:nvSpPr>
        <p:spPr>
          <a:xfrm>
            <a:off x="7022592" y="1261872"/>
            <a:ext cx="841248" cy="841248"/>
          </a:xfrm>
          <a:prstGeom prst="ellipse">
            <a:avLst/>
          </a:prstGeom>
          <a:solidFill>
            <a:srgbClr val="DC2626"/>
          </a:solidFill>
          <a:ln w="12700">
            <a:solidFill>
              <a:srgbClr val="DC2626"/>
            </a:solidFill>
            <a:prstDash val="solid"/>
          </a:ln>
        </p:spPr>
        <p:txBody>
          <a:bodyPr/>
          <a:lstStyle/>
          <a:p>
            <a:endParaRPr lang="en-AU"/>
          </a:p>
        </p:txBody>
      </p:sp>
      <p:sp>
        <p:nvSpPr>
          <p:cNvPr id="21" name="Text 19"/>
          <p:cNvSpPr/>
          <p:nvPr/>
        </p:nvSpPr>
        <p:spPr>
          <a:xfrm>
            <a:off x="7022592" y="1261872"/>
            <a:ext cx="841248" cy="8412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22" name="Text 20"/>
          <p:cNvSpPr/>
          <p:nvPr/>
        </p:nvSpPr>
        <p:spPr>
          <a:xfrm>
            <a:off x="6080760" y="2212848"/>
            <a:ext cx="2724912" cy="402336"/>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Evolve</a:t>
            </a:r>
            <a:endParaRPr lang="en-US" sz="1700" dirty="0"/>
          </a:p>
        </p:txBody>
      </p:sp>
      <p:sp>
        <p:nvSpPr>
          <p:cNvPr id="23" name="Text 21"/>
          <p:cNvSpPr/>
          <p:nvPr/>
        </p:nvSpPr>
        <p:spPr>
          <a:xfrm>
            <a:off x="6227064" y="2651760"/>
            <a:ext cx="2432304" cy="1920240"/>
          </a:xfrm>
          <a:prstGeom prst="rect">
            <a:avLst/>
          </a:prstGeom>
          <a:noFill/>
          <a:ln/>
        </p:spPr>
        <p:txBody>
          <a:bodyPr wrap="square" rtlCol="0" anchor="t"/>
          <a:lstStyle/>
          <a:p>
            <a:pPr marL="0" indent="0" algn="l">
              <a:buNone/>
            </a:pPr>
            <a:r>
              <a:rPr lang="en-US" sz="1200" dirty="0">
                <a:solidFill>
                  <a:srgbClr val="1A1A2E"/>
                </a:solidFill>
              </a:rPr>
              <a:t>AU Privacy Act reforms, GDPR enforcement, EU AI Act, CCPA/CPRA — the regulatory stack keeps moving. Platforms built for last year's rules are already behind.</a:t>
            </a:r>
            <a:endParaRPr lang="en-US" sz="1200" dirty="0"/>
          </a:p>
        </p:txBody>
      </p:sp>
      <p:sp>
        <p:nvSpPr>
          <p:cNvPr id="24" name="Text 22"/>
          <p:cNvSpPr/>
          <p:nvPr/>
        </p:nvSpPr>
        <p:spPr>
          <a:xfrm>
            <a:off x="365760" y="4754880"/>
            <a:ext cx="8046720" cy="274320"/>
          </a:xfrm>
          <a:prstGeom prst="rect">
            <a:avLst/>
          </a:prstGeom>
          <a:noFill/>
          <a:ln/>
        </p:spPr>
        <p:txBody>
          <a:bodyPr wrap="square" rtlCol="0" anchor="ctr"/>
          <a:lstStyle/>
          <a:p>
            <a:pPr marL="0" indent="0" algn="l">
              <a:buNone/>
            </a:pPr>
            <a:r>
              <a:rPr lang="en-US" sz="1100" i="1" dirty="0">
                <a:solidFill>
                  <a:srgbClr val="F59E0B"/>
                </a:solidFill>
              </a:rPr>
              <a:t>AI changes both sides of this equation — how platforms are built, and how they operate. The whole model needs rethinking.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THE PLATFORM</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One Complete, AI-Native Privacy Stack — 11 Operational Layers</a:t>
            </a:r>
            <a:endParaRPr lang="en-US" sz="22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3</a:t>
            </a:r>
            <a:endParaRPr lang="en-US" sz="900" dirty="0"/>
          </a:p>
        </p:txBody>
      </p:sp>
      <p:sp>
        <p:nvSpPr>
          <p:cNvPr id="6" name="Shape 4"/>
          <p:cNvSpPr/>
          <p:nvPr/>
        </p:nvSpPr>
        <p:spPr>
          <a:xfrm>
            <a:off x="274320" y="1078992"/>
            <a:ext cx="2743200" cy="2816352"/>
          </a:xfrm>
          <a:prstGeom prst="roundRect">
            <a:avLst>
              <a:gd name="adj" fmla="val 4667"/>
            </a:avLst>
          </a:prstGeom>
          <a:solidFill>
            <a:srgbClr val="1E2761"/>
          </a:solidFill>
          <a:ln w="12700">
            <a:solidFill>
              <a:srgbClr val="1E2761"/>
            </a:solidFill>
            <a:prstDash val="solid"/>
          </a:ln>
          <a:effectLst>
            <a:outerShdw blurRad="76200" dist="25400" dir="2700000" algn="bl" rotWithShape="0">
              <a:srgbClr val="1E2761">
                <a:alpha val="8000"/>
              </a:srgbClr>
            </a:outerShdw>
          </a:effectLst>
        </p:spPr>
        <p:txBody>
          <a:bodyPr/>
          <a:lstStyle/>
          <a:p>
            <a:endParaRPr lang="en-AU"/>
          </a:p>
        </p:txBody>
      </p:sp>
      <p:sp>
        <p:nvSpPr>
          <p:cNvPr id="7" name="Shape 5"/>
          <p:cNvSpPr/>
          <p:nvPr/>
        </p:nvSpPr>
        <p:spPr>
          <a:xfrm>
            <a:off x="402336" y="1188720"/>
            <a:ext cx="2487168" cy="274320"/>
          </a:xfrm>
          <a:prstGeom prst="roundRect">
            <a:avLst>
              <a:gd name="adj" fmla="val 13333"/>
            </a:avLst>
          </a:prstGeom>
          <a:solidFill>
            <a:srgbClr val="FFFFFF">
              <a:alpha val="25000"/>
            </a:srgbClr>
          </a:solidFill>
          <a:ln w="12700">
            <a:solidFill>
              <a:srgbClr val="FFFFFF"/>
            </a:solidFill>
            <a:prstDash val="solid"/>
          </a:ln>
        </p:spPr>
        <p:txBody>
          <a:bodyPr/>
          <a:lstStyle/>
          <a:p>
            <a:endParaRPr lang="en-AU"/>
          </a:p>
        </p:txBody>
      </p:sp>
      <p:sp>
        <p:nvSpPr>
          <p:cNvPr id="8" name="Text 6"/>
          <p:cNvSpPr/>
          <p:nvPr/>
        </p:nvSpPr>
        <p:spPr>
          <a:xfrm>
            <a:off x="402336" y="1188720"/>
            <a:ext cx="2487168" cy="274320"/>
          </a:xfrm>
          <a:prstGeom prst="rect">
            <a:avLst/>
          </a:prstGeom>
          <a:noFill/>
          <a:ln/>
        </p:spPr>
        <p:txBody>
          <a:bodyPr wrap="square" lIns="0" tIns="0" rIns="0" bIns="0" rtlCol="0" anchor="ctr"/>
          <a:lstStyle/>
          <a:p>
            <a:pPr marL="0" indent="0" algn="ctr">
              <a:buNone/>
            </a:pPr>
            <a:r>
              <a:rPr lang="en-US" sz="950" b="1" dirty="0">
                <a:solidFill>
                  <a:srgbClr val="FFFFFF"/>
                </a:solidFill>
              </a:rPr>
              <a:t>Layers 1-2</a:t>
            </a:r>
            <a:endParaRPr lang="en-US" sz="950" dirty="0"/>
          </a:p>
        </p:txBody>
      </p:sp>
      <p:sp>
        <p:nvSpPr>
          <p:cNvPr id="9" name="Text 7"/>
          <p:cNvSpPr/>
          <p:nvPr/>
        </p:nvSpPr>
        <p:spPr>
          <a:xfrm>
            <a:off x="384048" y="1536192"/>
            <a:ext cx="2523744" cy="585216"/>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FOUNDATION AGENTS</a:t>
            </a:r>
            <a:endParaRPr lang="en-US" sz="1400" dirty="0"/>
          </a:p>
        </p:txBody>
      </p:sp>
      <p:sp>
        <p:nvSpPr>
          <p:cNvPr id="10" name="Text 8"/>
          <p:cNvSpPr/>
          <p:nvPr/>
        </p:nvSpPr>
        <p:spPr>
          <a:xfrm>
            <a:off x="402336" y="2157984"/>
            <a:ext cx="2487168" cy="1005840"/>
          </a:xfrm>
          <a:prstGeom prst="rect">
            <a:avLst/>
          </a:prstGeom>
          <a:noFill/>
          <a:ln/>
        </p:spPr>
        <p:txBody>
          <a:bodyPr wrap="square" rtlCol="0" anchor="t"/>
          <a:lstStyle/>
          <a:p>
            <a:pPr marL="0" indent="0" algn="ctr">
              <a:buNone/>
            </a:pPr>
            <a:r>
              <a:rPr lang="en-US" sz="1150" dirty="0">
                <a:solidFill>
                  <a:srgbClr val="FFFFFF">
                    <a:alpha val="88000"/>
                  </a:srgbClr>
                </a:solidFill>
              </a:rPr>
              <a:t>Data Discovery &amp; Ingestion</a:t>
            </a:r>
            <a:endParaRPr lang="en-US" sz="1150" dirty="0"/>
          </a:p>
          <a:p>
            <a:pPr marL="0" indent="0" algn="ctr">
              <a:buNone/>
            </a:pPr>
            <a:r>
              <a:rPr lang="en-US" sz="1150" dirty="0">
                <a:solidFill>
                  <a:srgbClr val="FFFFFF">
                    <a:alpha val="88000"/>
                  </a:srgbClr>
                </a:solidFill>
              </a:rPr>
              <a:t>Classification &amp; Labelling</a:t>
            </a:r>
            <a:endParaRPr lang="en-US" sz="1150" dirty="0"/>
          </a:p>
        </p:txBody>
      </p:sp>
      <p:sp>
        <p:nvSpPr>
          <p:cNvPr id="11" name="Shape 9"/>
          <p:cNvSpPr/>
          <p:nvPr/>
        </p:nvSpPr>
        <p:spPr>
          <a:xfrm>
            <a:off x="384048" y="3474720"/>
            <a:ext cx="2523744" cy="310896"/>
          </a:xfrm>
          <a:prstGeom prst="roundRect">
            <a:avLst>
              <a:gd name="adj" fmla="val 11765"/>
            </a:avLst>
          </a:prstGeom>
          <a:solidFill>
            <a:srgbClr val="FFFFFF">
              <a:alpha val="28000"/>
            </a:srgbClr>
          </a:solidFill>
          <a:ln w="12700">
            <a:solidFill>
              <a:srgbClr val="FFFFFF"/>
            </a:solidFill>
            <a:prstDash val="solid"/>
          </a:ln>
        </p:spPr>
        <p:txBody>
          <a:bodyPr/>
          <a:lstStyle/>
          <a:p>
            <a:endParaRPr lang="en-AU"/>
          </a:p>
        </p:txBody>
      </p:sp>
      <p:sp>
        <p:nvSpPr>
          <p:cNvPr id="12" name="Text 10"/>
          <p:cNvSpPr/>
          <p:nvPr/>
        </p:nvSpPr>
        <p:spPr>
          <a:xfrm>
            <a:off x="384048" y="3474720"/>
            <a:ext cx="2523744" cy="310896"/>
          </a:xfrm>
          <a:prstGeom prst="rect">
            <a:avLst/>
          </a:prstGeom>
          <a:noFill/>
          <a:ln/>
        </p:spPr>
        <p:txBody>
          <a:bodyPr wrap="square" lIns="0" tIns="0" rIns="0" bIns="0" rtlCol="0" anchor="ctr"/>
          <a:lstStyle/>
          <a:p>
            <a:pPr marL="0" indent="0" algn="ctr">
              <a:buNone/>
            </a:pPr>
            <a:r>
              <a:rPr lang="en-US" sz="950" b="1" dirty="0">
                <a:solidFill>
                  <a:srgbClr val="FFFFFF"/>
                </a:solidFill>
              </a:rPr>
              <a:t>39 PI items found  |  4 special category</a:t>
            </a:r>
            <a:endParaRPr lang="en-US" sz="950" dirty="0"/>
          </a:p>
        </p:txBody>
      </p:sp>
      <p:sp>
        <p:nvSpPr>
          <p:cNvPr id="13" name="Shape 11"/>
          <p:cNvSpPr/>
          <p:nvPr/>
        </p:nvSpPr>
        <p:spPr>
          <a:xfrm>
            <a:off x="3200400" y="1078992"/>
            <a:ext cx="2743200" cy="2816352"/>
          </a:xfrm>
          <a:prstGeom prst="roundRect">
            <a:avLst>
              <a:gd name="adj" fmla="val 4667"/>
            </a:avLst>
          </a:prstGeom>
          <a:solidFill>
            <a:srgbClr val="3A7BD5"/>
          </a:solidFill>
          <a:ln w="12700">
            <a:solidFill>
              <a:srgbClr val="3A7BD5"/>
            </a:solidFill>
            <a:prstDash val="solid"/>
          </a:ln>
          <a:effectLst>
            <a:outerShdw blurRad="76200" dist="25400" dir="2700000" algn="bl" rotWithShape="0">
              <a:srgbClr val="1E2761">
                <a:alpha val="8000"/>
              </a:srgbClr>
            </a:outerShdw>
          </a:effectLst>
        </p:spPr>
        <p:txBody>
          <a:bodyPr/>
          <a:lstStyle/>
          <a:p>
            <a:endParaRPr lang="en-AU"/>
          </a:p>
        </p:txBody>
      </p:sp>
      <p:sp>
        <p:nvSpPr>
          <p:cNvPr id="14" name="Shape 12"/>
          <p:cNvSpPr/>
          <p:nvPr/>
        </p:nvSpPr>
        <p:spPr>
          <a:xfrm>
            <a:off x="3328416" y="1188720"/>
            <a:ext cx="2487168" cy="274320"/>
          </a:xfrm>
          <a:prstGeom prst="roundRect">
            <a:avLst>
              <a:gd name="adj" fmla="val 13333"/>
            </a:avLst>
          </a:prstGeom>
          <a:solidFill>
            <a:srgbClr val="FFFFFF">
              <a:alpha val="25000"/>
            </a:srgbClr>
          </a:solidFill>
          <a:ln w="12700">
            <a:solidFill>
              <a:srgbClr val="FFFFFF"/>
            </a:solidFill>
            <a:prstDash val="solid"/>
          </a:ln>
        </p:spPr>
        <p:txBody>
          <a:bodyPr/>
          <a:lstStyle/>
          <a:p>
            <a:endParaRPr lang="en-AU"/>
          </a:p>
        </p:txBody>
      </p:sp>
      <p:sp>
        <p:nvSpPr>
          <p:cNvPr id="15" name="Text 13"/>
          <p:cNvSpPr/>
          <p:nvPr/>
        </p:nvSpPr>
        <p:spPr>
          <a:xfrm>
            <a:off x="3328416" y="1188720"/>
            <a:ext cx="2487168" cy="274320"/>
          </a:xfrm>
          <a:prstGeom prst="rect">
            <a:avLst/>
          </a:prstGeom>
          <a:noFill/>
          <a:ln/>
        </p:spPr>
        <p:txBody>
          <a:bodyPr wrap="square" lIns="0" tIns="0" rIns="0" bIns="0" rtlCol="0" anchor="ctr"/>
          <a:lstStyle/>
          <a:p>
            <a:pPr marL="0" indent="0" algn="ctr">
              <a:buNone/>
            </a:pPr>
            <a:r>
              <a:rPr lang="en-US" sz="950" b="1" dirty="0">
                <a:solidFill>
                  <a:srgbClr val="FFFFFF"/>
                </a:solidFill>
              </a:rPr>
              <a:t>Layers 3-10</a:t>
            </a:r>
            <a:endParaRPr lang="en-US" sz="950" dirty="0"/>
          </a:p>
        </p:txBody>
      </p:sp>
      <p:sp>
        <p:nvSpPr>
          <p:cNvPr id="16" name="Text 14"/>
          <p:cNvSpPr/>
          <p:nvPr/>
        </p:nvSpPr>
        <p:spPr>
          <a:xfrm>
            <a:off x="3310128" y="1536192"/>
            <a:ext cx="2523744" cy="585216"/>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OPERATIONAL AGENTS</a:t>
            </a:r>
            <a:endParaRPr lang="en-US" sz="1400" dirty="0"/>
          </a:p>
        </p:txBody>
      </p:sp>
      <p:sp>
        <p:nvSpPr>
          <p:cNvPr id="17" name="Text 15"/>
          <p:cNvSpPr/>
          <p:nvPr/>
        </p:nvSpPr>
        <p:spPr>
          <a:xfrm>
            <a:off x="3328416" y="2157984"/>
            <a:ext cx="2487168" cy="1005840"/>
          </a:xfrm>
          <a:prstGeom prst="rect">
            <a:avLst/>
          </a:prstGeom>
          <a:noFill/>
          <a:ln/>
        </p:spPr>
        <p:txBody>
          <a:bodyPr wrap="square" rtlCol="0" anchor="t"/>
          <a:lstStyle/>
          <a:p>
            <a:pPr marL="0" indent="0" algn="ctr">
              <a:buNone/>
            </a:pPr>
            <a:r>
              <a:rPr lang="en-US" sz="1150" dirty="0">
                <a:solidFill>
                  <a:srgbClr val="FFFFFF">
                    <a:alpha val="88000"/>
                  </a:srgbClr>
                </a:solidFill>
              </a:rPr>
              <a:t>Consent  ·  Cookie  ·  Privacy Notice</a:t>
            </a:r>
            <a:endParaRPr lang="en-US" sz="1150" dirty="0"/>
          </a:p>
          <a:p>
            <a:pPr marL="0" indent="0" algn="ctr">
              <a:buNone/>
            </a:pPr>
            <a:r>
              <a:rPr lang="en-US" sz="1150" dirty="0">
                <a:solidFill>
                  <a:srgbClr val="FFFFFF">
                    <a:alpha val="88000"/>
                  </a:srgbClr>
                </a:solidFill>
              </a:rPr>
              <a:t>DSR  ·  Retention  ·  Risk  ·  Breach  ·  Assessment</a:t>
            </a:r>
            <a:endParaRPr lang="en-US" sz="1150" dirty="0"/>
          </a:p>
        </p:txBody>
      </p:sp>
      <p:sp>
        <p:nvSpPr>
          <p:cNvPr id="18" name="Shape 16"/>
          <p:cNvSpPr/>
          <p:nvPr/>
        </p:nvSpPr>
        <p:spPr>
          <a:xfrm>
            <a:off x="3310128" y="3474720"/>
            <a:ext cx="2523744" cy="310896"/>
          </a:xfrm>
          <a:prstGeom prst="roundRect">
            <a:avLst>
              <a:gd name="adj" fmla="val 11765"/>
            </a:avLst>
          </a:prstGeom>
          <a:solidFill>
            <a:srgbClr val="FFFFFF">
              <a:alpha val="28000"/>
            </a:srgbClr>
          </a:solidFill>
          <a:ln w="12700">
            <a:solidFill>
              <a:srgbClr val="FFFFFF"/>
            </a:solidFill>
            <a:prstDash val="solid"/>
          </a:ln>
        </p:spPr>
        <p:txBody>
          <a:bodyPr/>
          <a:lstStyle/>
          <a:p>
            <a:endParaRPr lang="en-AU"/>
          </a:p>
        </p:txBody>
      </p:sp>
      <p:sp>
        <p:nvSpPr>
          <p:cNvPr id="19" name="Text 17"/>
          <p:cNvSpPr/>
          <p:nvPr/>
        </p:nvSpPr>
        <p:spPr>
          <a:xfrm>
            <a:off x="3310128" y="3474720"/>
            <a:ext cx="2523744" cy="310896"/>
          </a:xfrm>
          <a:prstGeom prst="rect">
            <a:avLst/>
          </a:prstGeom>
          <a:noFill/>
          <a:ln/>
        </p:spPr>
        <p:txBody>
          <a:bodyPr wrap="square" lIns="0" tIns="0" rIns="0" bIns="0" rtlCol="0" anchor="ctr"/>
          <a:lstStyle/>
          <a:p>
            <a:pPr marL="0" indent="0" algn="ctr">
              <a:buNone/>
            </a:pPr>
            <a:r>
              <a:rPr lang="en-US" sz="950" b="1" dirty="0">
                <a:solidFill>
                  <a:srgbClr val="FFFFFF"/>
                </a:solidFill>
              </a:rPr>
              <a:t>8 automated workflows  |  4 jurisdictions</a:t>
            </a:r>
            <a:endParaRPr lang="en-US" sz="950" dirty="0"/>
          </a:p>
        </p:txBody>
      </p:sp>
      <p:sp>
        <p:nvSpPr>
          <p:cNvPr id="20" name="Shape 18"/>
          <p:cNvSpPr/>
          <p:nvPr/>
        </p:nvSpPr>
        <p:spPr>
          <a:xfrm>
            <a:off x="6126480" y="1078992"/>
            <a:ext cx="2743200" cy="2816352"/>
          </a:xfrm>
          <a:prstGeom prst="roundRect">
            <a:avLst>
              <a:gd name="adj" fmla="val 4667"/>
            </a:avLst>
          </a:prstGeom>
          <a:solidFill>
            <a:srgbClr val="0D9488"/>
          </a:solidFill>
          <a:ln w="12700">
            <a:solidFill>
              <a:srgbClr val="0D9488"/>
            </a:solidFill>
            <a:prstDash val="solid"/>
          </a:ln>
          <a:effectLst>
            <a:outerShdw blurRad="76200" dist="25400" dir="2700000" algn="bl" rotWithShape="0">
              <a:srgbClr val="1E2761">
                <a:alpha val="8000"/>
              </a:srgbClr>
            </a:outerShdw>
          </a:effectLst>
        </p:spPr>
        <p:txBody>
          <a:bodyPr/>
          <a:lstStyle/>
          <a:p>
            <a:endParaRPr lang="en-AU"/>
          </a:p>
        </p:txBody>
      </p:sp>
      <p:sp>
        <p:nvSpPr>
          <p:cNvPr id="21" name="Shape 19"/>
          <p:cNvSpPr/>
          <p:nvPr/>
        </p:nvSpPr>
        <p:spPr>
          <a:xfrm>
            <a:off x="6254496" y="1188720"/>
            <a:ext cx="2487168" cy="274320"/>
          </a:xfrm>
          <a:prstGeom prst="roundRect">
            <a:avLst>
              <a:gd name="adj" fmla="val 13333"/>
            </a:avLst>
          </a:prstGeom>
          <a:solidFill>
            <a:srgbClr val="FFFFFF">
              <a:alpha val="25000"/>
            </a:srgbClr>
          </a:solidFill>
          <a:ln w="12700">
            <a:solidFill>
              <a:srgbClr val="FFFFFF"/>
            </a:solidFill>
            <a:prstDash val="solid"/>
          </a:ln>
        </p:spPr>
        <p:txBody>
          <a:bodyPr/>
          <a:lstStyle/>
          <a:p>
            <a:endParaRPr lang="en-AU"/>
          </a:p>
        </p:txBody>
      </p:sp>
      <p:sp>
        <p:nvSpPr>
          <p:cNvPr id="22" name="Text 20"/>
          <p:cNvSpPr/>
          <p:nvPr/>
        </p:nvSpPr>
        <p:spPr>
          <a:xfrm>
            <a:off x="6254496" y="1188720"/>
            <a:ext cx="2487168" cy="274320"/>
          </a:xfrm>
          <a:prstGeom prst="rect">
            <a:avLst/>
          </a:prstGeom>
          <a:noFill/>
          <a:ln/>
        </p:spPr>
        <p:txBody>
          <a:bodyPr wrap="square" lIns="0" tIns="0" rIns="0" bIns="0" rtlCol="0" anchor="ctr"/>
          <a:lstStyle/>
          <a:p>
            <a:pPr marL="0" indent="0" algn="ctr">
              <a:buNone/>
            </a:pPr>
            <a:r>
              <a:rPr lang="en-US" sz="950" b="1" dirty="0">
                <a:solidFill>
                  <a:srgbClr val="FFFFFF"/>
                </a:solidFill>
              </a:rPr>
              <a:t>Layer 11</a:t>
            </a:r>
            <a:endParaRPr lang="en-US" sz="950" dirty="0"/>
          </a:p>
        </p:txBody>
      </p:sp>
      <p:sp>
        <p:nvSpPr>
          <p:cNvPr id="23" name="Text 21"/>
          <p:cNvSpPr/>
          <p:nvPr/>
        </p:nvSpPr>
        <p:spPr>
          <a:xfrm>
            <a:off x="6236208" y="1536192"/>
            <a:ext cx="2523744" cy="585216"/>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HUMAN GOVERNANCE</a:t>
            </a:r>
            <a:endParaRPr lang="en-US" sz="1400" dirty="0"/>
          </a:p>
        </p:txBody>
      </p:sp>
      <p:sp>
        <p:nvSpPr>
          <p:cNvPr id="24" name="Text 22"/>
          <p:cNvSpPr/>
          <p:nvPr/>
        </p:nvSpPr>
        <p:spPr>
          <a:xfrm>
            <a:off x="6254496" y="2157984"/>
            <a:ext cx="2487168" cy="1005840"/>
          </a:xfrm>
          <a:prstGeom prst="rect">
            <a:avLst/>
          </a:prstGeom>
          <a:noFill/>
          <a:ln/>
        </p:spPr>
        <p:txBody>
          <a:bodyPr wrap="square" rtlCol="0" anchor="t"/>
          <a:lstStyle/>
          <a:p>
            <a:pPr marL="0" indent="0" algn="ctr">
              <a:buNone/>
            </a:pPr>
            <a:r>
              <a:rPr lang="en-US" sz="1150" dirty="0">
                <a:solidFill>
                  <a:srgbClr val="FFFFFF">
                    <a:alpha val="88000"/>
                  </a:srgbClr>
                </a:solidFill>
              </a:rPr>
              <a:t>DPO Review Gate</a:t>
            </a:r>
            <a:endParaRPr lang="en-US" sz="1150" dirty="0"/>
          </a:p>
          <a:p>
            <a:pPr marL="0" indent="0" algn="ctr">
              <a:buNone/>
            </a:pPr>
            <a:r>
              <a:rPr lang="en-US" sz="1150" dirty="0">
                <a:solidFill>
                  <a:srgbClr val="FFFFFF">
                    <a:alpha val="88000"/>
                  </a:srgbClr>
                </a:solidFill>
              </a:rPr>
              <a:t>Audit Trail  |  Policy Register</a:t>
            </a:r>
            <a:endParaRPr lang="en-US" sz="1150" dirty="0"/>
          </a:p>
        </p:txBody>
      </p:sp>
      <p:sp>
        <p:nvSpPr>
          <p:cNvPr id="25" name="Shape 23"/>
          <p:cNvSpPr/>
          <p:nvPr/>
        </p:nvSpPr>
        <p:spPr>
          <a:xfrm>
            <a:off x="6236208" y="3474720"/>
            <a:ext cx="2523744" cy="310896"/>
          </a:xfrm>
          <a:prstGeom prst="roundRect">
            <a:avLst>
              <a:gd name="adj" fmla="val 11765"/>
            </a:avLst>
          </a:prstGeom>
          <a:solidFill>
            <a:srgbClr val="FFFFFF">
              <a:alpha val="28000"/>
            </a:srgbClr>
          </a:solidFill>
          <a:ln w="12700">
            <a:solidFill>
              <a:srgbClr val="FFFFFF"/>
            </a:solidFill>
            <a:prstDash val="solid"/>
          </a:ln>
        </p:spPr>
        <p:txBody>
          <a:bodyPr/>
          <a:lstStyle/>
          <a:p>
            <a:endParaRPr lang="en-AU"/>
          </a:p>
        </p:txBody>
      </p:sp>
      <p:sp>
        <p:nvSpPr>
          <p:cNvPr id="26" name="Text 24"/>
          <p:cNvSpPr/>
          <p:nvPr/>
        </p:nvSpPr>
        <p:spPr>
          <a:xfrm>
            <a:off x="6236208" y="3474720"/>
            <a:ext cx="2523744" cy="310896"/>
          </a:xfrm>
          <a:prstGeom prst="rect">
            <a:avLst/>
          </a:prstGeom>
          <a:noFill/>
          <a:ln/>
        </p:spPr>
        <p:txBody>
          <a:bodyPr wrap="square" lIns="0" tIns="0" rIns="0" bIns="0" rtlCol="0" anchor="ctr"/>
          <a:lstStyle/>
          <a:p>
            <a:pPr marL="0" indent="0" algn="ctr">
              <a:buNone/>
            </a:pPr>
            <a:r>
              <a:rPr lang="en-US" sz="950" b="1" dirty="0">
                <a:solidFill>
                  <a:srgbClr val="FFFFFF"/>
                </a:solidFill>
              </a:rPr>
              <a:t>0 autonomous irreversible actions</a:t>
            </a:r>
            <a:endParaRPr lang="en-US" sz="950" dirty="0"/>
          </a:p>
        </p:txBody>
      </p:sp>
      <p:sp>
        <p:nvSpPr>
          <p:cNvPr id="27" name="Text 25"/>
          <p:cNvSpPr/>
          <p:nvPr/>
        </p:nvSpPr>
        <p:spPr>
          <a:xfrm>
            <a:off x="2999232" y="2377440"/>
            <a:ext cx="219456" cy="274320"/>
          </a:xfrm>
          <a:prstGeom prst="rect">
            <a:avLst/>
          </a:prstGeom>
          <a:noFill/>
          <a:ln/>
        </p:spPr>
        <p:txBody>
          <a:bodyPr wrap="square" rtlCol="0" anchor="ctr"/>
          <a:lstStyle/>
          <a:p>
            <a:pPr marL="0" indent="0" algn="ctr">
              <a:buNone/>
            </a:pPr>
            <a:r>
              <a:rPr lang="en-US" sz="1200" dirty="0">
                <a:solidFill>
                  <a:srgbClr val="64748B"/>
                </a:solidFill>
              </a:rPr>
              <a:t>▶</a:t>
            </a:r>
            <a:endParaRPr lang="en-US" sz="1200" dirty="0"/>
          </a:p>
        </p:txBody>
      </p:sp>
      <p:sp>
        <p:nvSpPr>
          <p:cNvPr id="28" name="Text 26"/>
          <p:cNvSpPr/>
          <p:nvPr/>
        </p:nvSpPr>
        <p:spPr>
          <a:xfrm>
            <a:off x="5925312" y="2377440"/>
            <a:ext cx="219456" cy="274320"/>
          </a:xfrm>
          <a:prstGeom prst="rect">
            <a:avLst/>
          </a:prstGeom>
          <a:noFill/>
          <a:ln/>
        </p:spPr>
        <p:txBody>
          <a:bodyPr wrap="square" rtlCol="0" anchor="ctr"/>
          <a:lstStyle/>
          <a:p>
            <a:pPr marL="0" indent="0" algn="ctr">
              <a:buNone/>
            </a:pPr>
            <a:r>
              <a:rPr lang="en-US" sz="1200" dirty="0">
                <a:solidFill>
                  <a:srgbClr val="64748B"/>
                </a:solidFill>
              </a:rPr>
              <a:t>▶</a:t>
            </a:r>
            <a:endParaRPr lang="en-US" sz="1200" dirty="0"/>
          </a:p>
        </p:txBody>
      </p:sp>
      <p:sp>
        <p:nvSpPr>
          <p:cNvPr id="29" name="Text 27"/>
          <p:cNvSpPr/>
          <p:nvPr/>
        </p:nvSpPr>
        <p:spPr>
          <a:xfrm>
            <a:off x="274320" y="3986784"/>
            <a:ext cx="2011680" cy="493776"/>
          </a:xfrm>
          <a:prstGeom prst="rect">
            <a:avLst/>
          </a:prstGeom>
          <a:noFill/>
          <a:ln/>
        </p:spPr>
        <p:txBody>
          <a:bodyPr wrap="square" rtlCol="0" anchor="b"/>
          <a:lstStyle/>
          <a:p>
            <a:pPr marL="0" indent="0" algn="ctr">
              <a:buNone/>
            </a:pPr>
            <a:r>
              <a:rPr lang="en-US" sz="3600" b="1" dirty="0">
                <a:solidFill>
                  <a:srgbClr val="3A7BD5"/>
                </a:solidFill>
                <a:latin typeface="Cambria" pitchFamily="34" charset="0"/>
                <a:ea typeface="Cambria" pitchFamily="34" charset="-122"/>
                <a:cs typeface="Cambria" pitchFamily="34" charset="-120"/>
              </a:rPr>
              <a:t>11</a:t>
            </a:r>
            <a:endParaRPr lang="en-US" sz="3600" dirty="0"/>
          </a:p>
        </p:txBody>
      </p:sp>
      <p:sp>
        <p:nvSpPr>
          <p:cNvPr id="30" name="Text 28"/>
          <p:cNvSpPr/>
          <p:nvPr/>
        </p:nvSpPr>
        <p:spPr>
          <a:xfrm>
            <a:off x="274320" y="4480560"/>
            <a:ext cx="2011680" cy="219456"/>
          </a:xfrm>
          <a:prstGeom prst="rect">
            <a:avLst/>
          </a:prstGeom>
          <a:noFill/>
          <a:ln/>
        </p:spPr>
        <p:txBody>
          <a:bodyPr wrap="square" rtlCol="0" anchor="ctr"/>
          <a:lstStyle/>
          <a:p>
            <a:pPr marL="0" indent="0" algn="ctr">
              <a:buNone/>
            </a:pPr>
            <a:r>
              <a:rPr lang="en-US" sz="1000" dirty="0">
                <a:solidFill>
                  <a:srgbClr val="64748B"/>
                </a:solidFill>
              </a:rPr>
              <a:t>operational layers</a:t>
            </a:r>
            <a:endParaRPr lang="en-US" sz="1000" dirty="0"/>
          </a:p>
        </p:txBody>
      </p:sp>
      <p:sp>
        <p:nvSpPr>
          <p:cNvPr id="31" name="Text 29"/>
          <p:cNvSpPr/>
          <p:nvPr/>
        </p:nvSpPr>
        <p:spPr>
          <a:xfrm>
            <a:off x="2450592" y="3986784"/>
            <a:ext cx="2011680" cy="493776"/>
          </a:xfrm>
          <a:prstGeom prst="rect">
            <a:avLst/>
          </a:prstGeom>
          <a:noFill/>
          <a:ln/>
        </p:spPr>
        <p:txBody>
          <a:bodyPr wrap="square" rtlCol="0" anchor="b"/>
          <a:lstStyle/>
          <a:p>
            <a:pPr marL="0" indent="0" algn="ctr">
              <a:buNone/>
            </a:pPr>
            <a:r>
              <a:rPr lang="en-US" sz="3600" b="1" dirty="0">
                <a:solidFill>
                  <a:srgbClr val="3A7BD5"/>
                </a:solidFill>
                <a:latin typeface="Cambria" pitchFamily="34" charset="0"/>
                <a:ea typeface="Cambria" pitchFamily="34" charset="-122"/>
                <a:cs typeface="Cambria" pitchFamily="34" charset="-120"/>
              </a:rPr>
              <a:t>39</a:t>
            </a:r>
            <a:endParaRPr lang="en-US" sz="3600" dirty="0"/>
          </a:p>
        </p:txBody>
      </p:sp>
      <p:sp>
        <p:nvSpPr>
          <p:cNvPr id="32" name="Text 30"/>
          <p:cNvSpPr/>
          <p:nvPr/>
        </p:nvSpPr>
        <p:spPr>
          <a:xfrm>
            <a:off x="2450592" y="4480560"/>
            <a:ext cx="2011680" cy="219456"/>
          </a:xfrm>
          <a:prstGeom prst="rect">
            <a:avLst/>
          </a:prstGeom>
          <a:noFill/>
          <a:ln/>
        </p:spPr>
        <p:txBody>
          <a:bodyPr wrap="square" rtlCol="0" anchor="ctr"/>
          <a:lstStyle/>
          <a:p>
            <a:pPr marL="0" indent="0" algn="ctr">
              <a:buNone/>
            </a:pPr>
            <a:r>
              <a:rPr lang="en-US" sz="1000" dirty="0">
                <a:solidFill>
                  <a:srgbClr val="64748B"/>
                </a:solidFill>
              </a:rPr>
              <a:t>PI items catalogued</a:t>
            </a:r>
            <a:endParaRPr lang="en-US" sz="1000" dirty="0"/>
          </a:p>
        </p:txBody>
      </p:sp>
      <p:sp>
        <p:nvSpPr>
          <p:cNvPr id="33" name="Text 31"/>
          <p:cNvSpPr/>
          <p:nvPr/>
        </p:nvSpPr>
        <p:spPr>
          <a:xfrm>
            <a:off x="4626864" y="3986784"/>
            <a:ext cx="2011680" cy="493776"/>
          </a:xfrm>
          <a:prstGeom prst="rect">
            <a:avLst/>
          </a:prstGeom>
          <a:noFill/>
          <a:ln/>
        </p:spPr>
        <p:txBody>
          <a:bodyPr wrap="square" rtlCol="0" anchor="b"/>
          <a:lstStyle/>
          <a:p>
            <a:pPr marL="0" indent="0" algn="ctr">
              <a:buNone/>
            </a:pPr>
            <a:r>
              <a:rPr lang="en-US" sz="3600" b="1" dirty="0">
                <a:solidFill>
                  <a:srgbClr val="3A7BD5"/>
                </a:solidFill>
                <a:latin typeface="Cambria" pitchFamily="34" charset="0"/>
                <a:ea typeface="Cambria" pitchFamily="34" charset="-122"/>
                <a:cs typeface="Cambria" pitchFamily="34" charset="-120"/>
              </a:rPr>
              <a:t>4</a:t>
            </a:r>
            <a:endParaRPr lang="en-US" sz="3600" dirty="0"/>
          </a:p>
        </p:txBody>
      </p:sp>
      <p:sp>
        <p:nvSpPr>
          <p:cNvPr id="34" name="Text 32"/>
          <p:cNvSpPr/>
          <p:nvPr/>
        </p:nvSpPr>
        <p:spPr>
          <a:xfrm>
            <a:off x="4626864" y="4480560"/>
            <a:ext cx="2011680" cy="219456"/>
          </a:xfrm>
          <a:prstGeom prst="rect">
            <a:avLst/>
          </a:prstGeom>
          <a:noFill/>
          <a:ln/>
        </p:spPr>
        <p:txBody>
          <a:bodyPr wrap="square" rtlCol="0" anchor="ctr"/>
          <a:lstStyle/>
          <a:p>
            <a:pPr marL="0" indent="0" algn="ctr">
              <a:buNone/>
            </a:pPr>
            <a:r>
              <a:rPr lang="en-US" sz="1000" dirty="0">
                <a:solidFill>
                  <a:srgbClr val="64748B"/>
                </a:solidFill>
              </a:rPr>
              <a:t>jurisdictions covered</a:t>
            </a:r>
            <a:endParaRPr lang="en-US" sz="1000" dirty="0"/>
          </a:p>
        </p:txBody>
      </p:sp>
      <p:sp>
        <p:nvSpPr>
          <p:cNvPr id="35" name="Text 33"/>
          <p:cNvSpPr/>
          <p:nvPr/>
        </p:nvSpPr>
        <p:spPr>
          <a:xfrm>
            <a:off x="6803136" y="3986784"/>
            <a:ext cx="2011680" cy="493776"/>
          </a:xfrm>
          <a:prstGeom prst="rect">
            <a:avLst/>
          </a:prstGeom>
          <a:noFill/>
          <a:ln/>
        </p:spPr>
        <p:txBody>
          <a:bodyPr wrap="square" rtlCol="0" anchor="b"/>
          <a:lstStyle/>
          <a:p>
            <a:pPr marL="0" indent="0" algn="ctr">
              <a:buNone/>
            </a:pPr>
            <a:r>
              <a:rPr lang="en-US" sz="3600" b="1" dirty="0">
                <a:solidFill>
                  <a:srgbClr val="3A7BD5"/>
                </a:solidFill>
                <a:latin typeface="Cambria" pitchFamily="34" charset="0"/>
                <a:ea typeface="Cambria" pitchFamily="34" charset="-122"/>
                <a:cs typeface="Cambria" pitchFamily="34" charset="-120"/>
              </a:rPr>
              <a:t>0</a:t>
            </a:r>
            <a:endParaRPr lang="en-US" sz="3600" dirty="0"/>
          </a:p>
        </p:txBody>
      </p:sp>
      <p:sp>
        <p:nvSpPr>
          <p:cNvPr id="36" name="Text 34"/>
          <p:cNvSpPr/>
          <p:nvPr/>
        </p:nvSpPr>
        <p:spPr>
          <a:xfrm>
            <a:off x="6803136" y="4480560"/>
            <a:ext cx="2011680" cy="219456"/>
          </a:xfrm>
          <a:prstGeom prst="rect">
            <a:avLst/>
          </a:prstGeom>
          <a:noFill/>
          <a:ln/>
        </p:spPr>
        <p:txBody>
          <a:bodyPr wrap="square" rtlCol="0" anchor="ctr"/>
          <a:lstStyle/>
          <a:p>
            <a:pPr marL="0" indent="0" algn="ctr">
              <a:buNone/>
            </a:pPr>
            <a:r>
              <a:rPr lang="en-US" sz="1000" dirty="0">
                <a:solidFill>
                  <a:srgbClr val="64748B"/>
                </a:solidFill>
              </a:rPr>
              <a:t>autonomous irreversible actions</a:t>
            </a:r>
            <a:endParaRPr lang="en-US" sz="1000" dirty="0"/>
          </a:p>
        </p:txBody>
      </p:sp>
      <p:sp>
        <p:nvSpPr>
          <p:cNvPr id="37" name="Text 35"/>
          <p:cNvSpPr/>
          <p:nvPr/>
        </p:nvSpPr>
        <p:spPr>
          <a:xfrm>
            <a:off x="365760" y="4754880"/>
            <a:ext cx="8046720" cy="274320"/>
          </a:xfrm>
          <a:prstGeom prst="rect">
            <a:avLst/>
          </a:prstGeom>
          <a:noFill/>
          <a:ln/>
        </p:spPr>
        <p:txBody>
          <a:bodyPr wrap="square" rtlCol="0" anchor="ctr"/>
          <a:lstStyle/>
          <a:p>
            <a:pPr marL="0" indent="0" algn="l">
              <a:buNone/>
            </a:pPr>
            <a:r>
              <a:rPr lang="en-US" sz="1100" i="1" dirty="0">
                <a:solidFill>
                  <a:srgbClr val="F59E0B"/>
                </a:solidFill>
              </a:rPr>
              <a:t>Not a wireframe. Not a concept. A working platform, live on GitHub, right now.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THE 11 CAPABILITIES</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11 Foundational Capabilities of the Prototype Platform</a:t>
            </a:r>
            <a:endParaRPr lang="en-US" sz="22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4</a:t>
            </a:r>
            <a:endParaRPr lang="en-US" sz="900" dirty="0"/>
          </a:p>
        </p:txBody>
      </p:sp>
      <p:sp>
        <p:nvSpPr>
          <p:cNvPr id="6" name="Shape 4"/>
          <p:cNvSpPr/>
          <p:nvPr/>
        </p:nvSpPr>
        <p:spPr>
          <a:xfrm>
            <a:off x="256032" y="1033272"/>
            <a:ext cx="137160" cy="137160"/>
          </a:xfrm>
          <a:prstGeom prst="ellipse">
            <a:avLst/>
          </a:prstGeom>
          <a:solidFill>
            <a:srgbClr val="1E2761"/>
          </a:solidFill>
          <a:ln w="12700">
            <a:solidFill>
              <a:srgbClr val="1E2761"/>
            </a:solidFill>
            <a:prstDash val="solid"/>
          </a:ln>
        </p:spPr>
        <p:txBody>
          <a:bodyPr/>
          <a:lstStyle/>
          <a:p>
            <a:endParaRPr lang="en-AU"/>
          </a:p>
        </p:txBody>
      </p:sp>
      <p:sp>
        <p:nvSpPr>
          <p:cNvPr id="7" name="Text 5"/>
          <p:cNvSpPr/>
          <p:nvPr/>
        </p:nvSpPr>
        <p:spPr>
          <a:xfrm>
            <a:off x="457200" y="1005840"/>
            <a:ext cx="2743200" cy="182880"/>
          </a:xfrm>
          <a:prstGeom prst="rect">
            <a:avLst/>
          </a:prstGeom>
          <a:noFill/>
          <a:ln/>
        </p:spPr>
        <p:txBody>
          <a:bodyPr wrap="square" rtlCol="0" anchor="ctr"/>
          <a:lstStyle/>
          <a:p>
            <a:pPr marL="0" indent="0">
              <a:buNone/>
            </a:pPr>
            <a:r>
              <a:rPr lang="en-US" sz="950" dirty="0">
                <a:solidFill>
                  <a:srgbClr val="64748B"/>
                </a:solidFill>
              </a:rPr>
              <a:t>Foundation (L1-L2)</a:t>
            </a:r>
            <a:endParaRPr lang="en-US" sz="950" dirty="0"/>
          </a:p>
        </p:txBody>
      </p:sp>
      <p:sp>
        <p:nvSpPr>
          <p:cNvPr id="8" name="Shape 6"/>
          <p:cNvSpPr/>
          <p:nvPr/>
        </p:nvSpPr>
        <p:spPr>
          <a:xfrm>
            <a:off x="3218688" y="1033272"/>
            <a:ext cx="137160" cy="137160"/>
          </a:xfrm>
          <a:prstGeom prst="ellipse">
            <a:avLst/>
          </a:prstGeom>
          <a:solidFill>
            <a:srgbClr val="3A7BD5"/>
          </a:solidFill>
          <a:ln w="12700">
            <a:solidFill>
              <a:srgbClr val="3A7BD5"/>
            </a:solidFill>
            <a:prstDash val="solid"/>
          </a:ln>
        </p:spPr>
        <p:txBody>
          <a:bodyPr/>
          <a:lstStyle/>
          <a:p>
            <a:endParaRPr lang="en-AU"/>
          </a:p>
        </p:txBody>
      </p:sp>
      <p:sp>
        <p:nvSpPr>
          <p:cNvPr id="9" name="Text 7"/>
          <p:cNvSpPr/>
          <p:nvPr/>
        </p:nvSpPr>
        <p:spPr>
          <a:xfrm>
            <a:off x="3419856" y="1005840"/>
            <a:ext cx="2743200" cy="182880"/>
          </a:xfrm>
          <a:prstGeom prst="rect">
            <a:avLst/>
          </a:prstGeom>
          <a:noFill/>
          <a:ln/>
        </p:spPr>
        <p:txBody>
          <a:bodyPr wrap="square" rtlCol="0" anchor="ctr"/>
          <a:lstStyle/>
          <a:p>
            <a:pPr marL="0" indent="0">
              <a:buNone/>
            </a:pPr>
            <a:r>
              <a:rPr lang="en-US" sz="950" dirty="0">
                <a:solidFill>
                  <a:srgbClr val="64748B"/>
                </a:solidFill>
              </a:rPr>
              <a:t>Operational (L3-L10)</a:t>
            </a:r>
            <a:endParaRPr lang="en-US" sz="950" dirty="0"/>
          </a:p>
        </p:txBody>
      </p:sp>
      <p:sp>
        <p:nvSpPr>
          <p:cNvPr id="10" name="Shape 8"/>
          <p:cNvSpPr/>
          <p:nvPr/>
        </p:nvSpPr>
        <p:spPr>
          <a:xfrm>
            <a:off x="6181344" y="1033272"/>
            <a:ext cx="137160" cy="137160"/>
          </a:xfrm>
          <a:prstGeom prst="ellipse">
            <a:avLst/>
          </a:prstGeom>
          <a:solidFill>
            <a:srgbClr val="0D9488"/>
          </a:solidFill>
          <a:ln w="12700">
            <a:solidFill>
              <a:srgbClr val="0D9488"/>
            </a:solidFill>
            <a:prstDash val="solid"/>
          </a:ln>
        </p:spPr>
        <p:txBody>
          <a:bodyPr/>
          <a:lstStyle/>
          <a:p>
            <a:endParaRPr lang="en-AU"/>
          </a:p>
        </p:txBody>
      </p:sp>
      <p:sp>
        <p:nvSpPr>
          <p:cNvPr id="11" name="Text 9"/>
          <p:cNvSpPr/>
          <p:nvPr/>
        </p:nvSpPr>
        <p:spPr>
          <a:xfrm>
            <a:off x="6382512" y="1005840"/>
            <a:ext cx="2743200" cy="182880"/>
          </a:xfrm>
          <a:prstGeom prst="rect">
            <a:avLst/>
          </a:prstGeom>
          <a:noFill/>
          <a:ln/>
        </p:spPr>
        <p:txBody>
          <a:bodyPr wrap="square" rtlCol="0" anchor="ctr"/>
          <a:lstStyle/>
          <a:p>
            <a:pPr marL="0" indent="0">
              <a:buNone/>
            </a:pPr>
            <a:r>
              <a:rPr lang="en-US" sz="950" dirty="0">
                <a:solidFill>
                  <a:srgbClr val="64748B"/>
                </a:solidFill>
              </a:rPr>
              <a:t>Governance (L11)</a:t>
            </a:r>
            <a:endParaRPr lang="en-US" sz="950" dirty="0"/>
          </a:p>
        </p:txBody>
      </p:sp>
      <p:sp>
        <p:nvSpPr>
          <p:cNvPr id="12" name="Shape 10"/>
          <p:cNvSpPr/>
          <p:nvPr/>
        </p:nvSpPr>
        <p:spPr>
          <a:xfrm>
            <a:off x="256032" y="1243584"/>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13" name="Shape 11"/>
          <p:cNvSpPr/>
          <p:nvPr/>
        </p:nvSpPr>
        <p:spPr>
          <a:xfrm>
            <a:off x="256032" y="1243584"/>
            <a:ext cx="64008" cy="548640"/>
          </a:xfrm>
          <a:prstGeom prst="roundRect">
            <a:avLst>
              <a:gd name="adj" fmla="val 57143"/>
            </a:avLst>
          </a:prstGeom>
          <a:solidFill>
            <a:srgbClr val="1E2761"/>
          </a:solidFill>
          <a:ln w="12700">
            <a:solidFill>
              <a:srgbClr val="1E2761"/>
            </a:solidFill>
            <a:prstDash val="solid"/>
          </a:ln>
        </p:spPr>
        <p:txBody>
          <a:bodyPr/>
          <a:lstStyle/>
          <a:p>
            <a:endParaRPr lang="en-AU"/>
          </a:p>
        </p:txBody>
      </p:sp>
      <p:sp>
        <p:nvSpPr>
          <p:cNvPr id="14" name="Shape 12"/>
          <p:cNvSpPr/>
          <p:nvPr/>
        </p:nvSpPr>
        <p:spPr>
          <a:xfrm>
            <a:off x="365760" y="1353312"/>
            <a:ext cx="329184" cy="329184"/>
          </a:xfrm>
          <a:prstGeom prst="ellipse">
            <a:avLst/>
          </a:prstGeom>
          <a:solidFill>
            <a:srgbClr val="1E2761"/>
          </a:solidFill>
          <a:ln w="12700">
            <a:solidFill>
              <a:srgbClr val="1E2761"/>
            </a:solidFill>
            <a:prstDash val="solid"/>
          </a:ln>
        </p:spPr>
        <p:txBody>
          <a:bodyPr/>
          <a:lstStyle/>
          <a:p>
            <a:endParaRPr lang="en-AU"/>
          </a:p>
        </p:txBody>
      </p:sp>
      <p:sp>
        <p:nvSpPr>
          <p:cNvPr id="15" name="Text 13"/>
          <p:cNvSpPr/>
          <p:nvPr/>
        </p:nvSpPr>
        <p:spPr>
          <a:xfrm>
            <a:off x="365760" y="1353312"/>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16" name="Text 14"/>
          <p:cNvSpPr/>
          <p:nvPr/>
        </p:nvSpPr>
        <p:spPr>
          <a:xfrm>
            <a:off x="768096" y="1289304"/>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Data Discovery</a:t>
            </a:r>
            <a:endParaRPr lang="en-US" sz="1150" dirty="0"/>
          </a:p>
        </p:txBody>
      </p:sp>
      <p:sp>
        <p:nvSpPr>
          <p:cNvPr id="17" name="Text 15"/>
          <p:cNvSpPr/>
          <p:nvPr/>
        </p:nvSpPr>
        <p:spPr>
          <a:xfrm>
            <a:off x="768096" y="1554480"/>
            <a:ext cx="3566160" cy="201168"/>
          </a:xfrm>
          <a:prstGeom prst="rect">
            <a:avLst/>
          </a:prstGeom>
          <a:noFill/>
          <a:ln/>
        </p:spPr>
        <p:txBody>
          <a:bodyPr wrap="square" rtlCol="0" anchor="t"/>
          <a:lstStyle/>
          <a:p>
            <a:pPr marL="0" indent="0">
              <a:buNone/>
            </a:pPr>
            <a:r>
              <a:rPr lang="en-US" sz="950" dirty="0">
                <a:solidFill>
                  <a:srgbClr val="64748B"/>
                </a:solidFill>
              </a:rPr>
              <a:t>39 PI items found  |  health data in CRM flagged</a:t>
            </a:r>
            <a:endParaRPr lang="en-US" sz="950" dirty="0"/>
          </a:p>
        </p:txBody>
      </p:sp>
      <p:sp>
        <p:nvSpPr>
          <p:cNvPr id="18" name="Shape 16"/>
          <p:cNvSpPr/>
          <p:nvPr/>
        </p:nvSpPr>
        <p:spPr>
          <a:xfrm>
            <a:off x="4700016" y="1243584"/>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19" name="Shape 17"/>
          <p:cNvSpPr/>
          <p:nvPr/>
        </p:nvSpPr>
        <p:spPr>
          <a:xfrm>
            <a:off x="4700016" y="1243584"/>
            <a:ext cx="64008" cy="548640"/>
          </a:xfrm>
          <a:prstGeom prst="roundRect">
            <a:avLst>
              <a:gd name="adj" fmla="val 57143"/>
            </a:avLst>
          </a:prstGeom>
          <a:solidFill>
            <a:srgbClr val="1E2761"/>
          </a:solidFill>
          <a:ln w="12700">
            <a:solidFill>
              <a:srgbClr val="1E2761"/>
            </a:solidFill>
            <a:prstDash val="solid"/>
          </a:ln>
        </p:spPr>
        <p:txBody>
          <a:bodyPr/>
          <a:lstStyle/>
          <a:p>
            <a:endParaRPr lang="en-AU"/>
          </a:p>
        </p:txBody>
      </p:sp>
      <p:sp>
        <p:nvSpPr>
          <p:cNvPr id="20" name="Shape 18"/>
          <p:cNvSpPr/>
          <p:nvPr/>
        </p:nvSpPr>
        <p:spPr>
          <a:xfrm>
            <a:off x="4809744" y="1353312"/>
            <a:ext cx="329184" cy="329184"/>
          </a:xfrm>
          <a:prstGeom prst="ellipse">
            <a:avLst/>
          </a:prstGeom>
          <a:solidFill>
            <a:srgbClr val="1E2761"/>
          </a:solidFill>
          <a:ln w="12700">
            <a:solidFill>
              <a:srgbClr val="1E2761"/>
            </a:solidFill>
            <a:prstDash val="solid"/>
          </a:ln>
        </p:spPr>
        <p:txBody>
          <a:bodyPr/>
          <a:lstStyle/>
          <a:p>
            <a:endParaRPr lang="en-AU"/>
          </a:p>
        </p:txBody>
      </p:sp>
      <p:sp>
        <p:nvSpPr>
          <p:cNvPr id="21" name="Text 19"/>
          <p:cNvSpPr/>
          <p:nvPr/>
        </p:nvSpPr>
        <p:spPr>
          <a:xfrm>
            <a:off x="4809744" y="1353312"/>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22" name="Text 20"/>
          <p:cNvSpPr/>
          <p:nvPr/>
        </p:nvSpPr>
        <p:spPr>
          <a:xfrm>
            <a:off x="5212080" y="1289304"/>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Classification</a:t>
            </a:r>
            <a:endParaRPr lang="en-US" sz="1150" dirty="0"/>
          </a:p>
        </p:txBody>
      </p:sp>
      <p:sp>
        <p:nvSpPr>
          <p:cNvPr id="23" name="Text 21"/>
          <p:cNvSpPr/>
          <p:nvPr/>
        </p:nvSpPr>
        <p:spPr>
          <a:xfrm>
            <a:off x="5212080" y="1554480"/>
            <a:ext cx="3566160" cy="201168"/>
          </a:xfrm>
          <a:prstGeom prst="rect">
            <a:avLst/>
          </a:prstGeom>
          <a:noFill/>
          <a:ln/>
        </p:spPr>
        <p:txBody>
          <a:bodyPr wrap="square" rtlCol="0" anchor="t"/>
          <a:lstStyle/>
          <a:p>
            <a:pPr marL="0" indent="0">
              <a:buNone/>
            </a:pPr>
            <a:r>
              <a:rPr lang="en-US" sz="950" dirty="0">
                <a:solidFill>
                  <a:srgbClr val="64748B"/>
                </a:solidFill>
              </a:rPr>
              <a:t>22 personal  |  13 sensitive  |  4 special category</a:t>
            </a:r>
            <a:endParaRPr lang="en-US" sz="950" dirty="0"/>
          </a:p>
        </p:txBody>
      </p:sp>
      <p:sp>
        <p:nvSpPr>
          <p:cNvPr id="24" name="Shape 22"/>
          <p:cNvSpPr/>
          <p:nvPr/>
        </p:nvSpPr>
        <p:spPr>
          <a:xfrm>
            <a:off x="256032" y="1843430"/>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25" name="Shape 23"/>
          <p:cNvSpPr/>
          <p:nvPr/>
        </p:nvSpPr>
        <p:spPr>
          <a:xfrm>
            <a:off x="256032" y="1843430"/>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26" name="Shape 24"/>
          <p:cNvSpPr/>
          <p:nvPr/>
        </p:nvSpPr>
        <p:spPr>
          <a:xfrm>
            <a:off x="365760" y="1953158"/>
            <a:ext cx="329184" cy="329184"/>
          </a:xfrm>
          <a:prstGeom prst="ellipse">
            <a:avLst/>
          </a:prstGeom>
          <a:solidFill>
            <a:srgbClr val="3A7BD5"/>
          </a:solidFill>
          <a:ln w="12700">
            <a:solidFill>
              <a:srgbClr val="3A7BD5"/>
            </a:solidFill>
            <a:prstDash val="solid"/>
          </a:ln>
        </p:spPr>
        <p:txBody>
          <a:bodyPr/>
          <a:lstStyle/>
          <a:p>
            <a:endParaRPr lang="en-AU"/>
          </a:p>
        </p:txBody>
      </p:sp>
      <p:sp>
        <p:nvSpPr>
          <p:cNvPr id="27" name="Text 25"/>
          <p:cNvSpPr/>
          <p:nvPr/>
        </p:nvSpPr>
        <p:spPr>
          <a:xfrm>
            <a:off x="365760" y="1953158"/>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28" name="Text 26"/>
          <p:cNvSpPr/>
          <p:nvPr/>
        </p:nvSpPr>
        <p:spPr>
          <a:xfrm>
            <a:off x="768096" y="1889150"/>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Consent Management</a:t>
            </a:r>
            <a:endParaRPr lang="en-US" sz="1150" dirty="0"/>
          </a:p>
        </p:txBody>
      </p:sp>
      <p:sp>
        <p:nvSpPr>
          <p:cNvPr id="29" name="Text 27"/>
          <p:cNvSpPr/>
          <p:nvPr/>
        </p:nvSpPr>
        <p:spPr>
          <a:xfrm>
            <a:off x="768096" y="2154326"/>
            <a:ext cx="3566160" cy="201168"/>
          </a:xfrm>
          <a:prstGeom prst="rect">
            <a:avLst/>
          </a:prstGeom>
          <a:noFill/>
          <a:ln/>
        </p:spPr>
        <p:txBody>
          <a:bodyPr wrap="square" rtlCol="0" anchor="t"/>
          <a:lstStyle/>
          <a:p>
            <a:pPr marL="0" indent="0">
              <a:buNone/>
            </a:pPr>
            <a:r>
              <a:rPr lang="en-US" sz="950" dirty="0">
                <a:solidFill>
                  <a:srgbClr val="64748B"/>
                </a:solidFill>
              </a:rPr>
              <a:t>6 campaigns allowed  |  4 blocked  |  Tom's* revocation honoured</a:t>
            </a:r>
            <a:endParaRPr lang="en-US" sz="950" dirty="0"/>
          </a:p>
        </p:txBody>
      </p:sp>
      <p:sp>
        <p:nvSpPr>
          <p:cNvPr id="30" name="Shape 28"/>
          <p:cNvSpPr/>
          <p:nvPr/>
        </p:nvSpPr>
        <p:spPr>
          <a:xfrm>
            <a:off x="4700016" y="1843430"/>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31" name="Shape 29"/>
          <p:cNvSpPr/>
          <p:nvPr/>
        </p:nvSpPr>
        <p:spPr>
          <a:xfrm>
            <a:off x="4700016" y="1843430"/>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32" name="Shape 30"/>
          <p:cNvSpPr/>
          <p:nvPr/>
        </p:nvSpPr>
        <p:spPr>
          <a:xfrm>
            <a:off x="4809744" y="1953158"/>
            <a:ext cx="329184" cy="329184"/>
          </a:xfrm>
          <a:prstGeom prst="ellipse">
            <a:avLst/>
          </a:prstGeom>
          <a:solidFill>
            <a:srgbClr val="3A7BD5"/>
          </a:solidFill>
          <a:ln w="12700">
            <a:solidFill>
              <a:srgbClr val="3A7BD5"/>
            </a:solidFill>
            <a:prstDash val="solid"/>
          </a:ln>
        </p:spPr>
        <p:txBody>
          <a:bodyPr/>
          <a:lstStyle/>
          <a:p>
            <a:endParaRPr lang="en-AU"/>
          </a:p>
        </p:txBody>
      </p:sp>
      <p:sp>
        <p:nvSpPr>
          <p:cNvPr id="33" name="Text 31"/>
          <p:cNvSpPr/>
          <p:nvPr/>
        </p:nvSpPr>
        <p:spPr>
          <a:xfrm>
            <a:off x="4809744" y="1953158"/>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4</a:t>
            </a:r>
            <a:endParaRPr lang="en-US" sz="700" dirty="0"/>
          </a:p>
        </p:txBody>
      </p:sp>
      <p:sp>
        <p:nvSpPr>
          <p:cNvPr id="34" name="Text 32"/>
          <p:cNvSpPr/>
          <p:nvPr/>
        </p:nvSpPr>
        <p:spPr>
          <a:xfrm>
            <a:off x="5212080" y="1889150"/>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Cookie &amp; Tracking</a:t>
            </a:r>
            <a:endParaRPr lang="en-US" sz="1150" dirty="0"/>
          </a:p>
        </p:txBody>
      </p:sp>
      <p:sp>
        <p:nvSpPr>
          <p:cNvPr id="35" name="Text 33"/>
          <p:cNvSpPr/>
          <p:nvPr/>
        </p:nvSpPr>
        <p:spPr>
          <a:xfrm>
            <a:off x="5212080" y="2154326"/>
            <a:ext cx="3566160" cy="201168"/>
          </a:xfrm>
          <a:prstGeom prst="rect">
            <a:avLst/>
          </a:prstGeom>
          <a:noFill/>
          <a:ln/>
        </p:spPr>
        <p:txBody>
          <a:bodyPr wrap="square" rtlCol="0" anchor="t"/>
          <a:lstStyle/>
          <a:p>
            <a:pPr marL="0" indent="0">
              <a:buNone/>
            </a:pPr>
            <a:r>
              <a:rPr lang="en-US" sz="950" dirty="0">
                <a:solidFill>
                  <a:srgbClr val="64748B"/>
                </a:solidFill>
              </a:rPr>
              <a:t>Hotjar blocked  |  still recording Tom* 25 days post opt-out</a:t>
            </a:r>
            <a:endParaRPr lang="en-US" sz="950" dirty="0"/>
          </a:p>
        </p:txBody>
      </p:sp>
      <p:sp>
        <p:nvSpPr>
          <p:cNvPr id="36" name="Shape 34"/>
          <p:cNvSpPr/>
          <p:nvPr/>
        </p:nvSpPr>
        <p:spPr>
          <a:xfrm>
            <a:off x="256032" y="2443277"/>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37" name="Shape 35"/>
          <p:cNvSpPr/>
          <p:nvPr/>
        </p:nvSpPr>
        <p:spPr>
          <a:xfrm>
            <a:off x="256032" y="2443277"/>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38" name="Shape 36"/>
          <p:cNvSpPr/>
          <p:nvPr/>
        </p:nvSpPr>
        <p:spPr>
          <a:xfrm>
            <a:off x="365760" y="2553005"/>
            <a:ext cx="329184" cy="329184"/>
          </a:xfrm>
          <a:prstGeom prst="ellipse">
            <a:avLst/>
          </a:prstGeom>
          <a:solidFill>
            <a:srgbClr val="3A7BD5"/>
          </a:solidFill>
          <a:ln w="12700">
            <a:solidFill>
              <a:srgbClr val="3A7BD5"/>
            </a:solidFill>
            <a:prstDash val="solid"/>
          </a:ln>
        </p:spPr>
        <p:txBody>
          <a:bodyPr/>
          <a:lstStyle/>
          <a:p>
            <a:endParaRPr lang="en-AU"/>
          </a:p>
        </p:txBody>
      </p:sp>
      <p:sp>
        <p:nvSpPr>
          <p:cNvPr id="39" name="Text 37"/>
          <p:cNvSpPr/>
          <p:nvPr/>
        </p:nvSpPr>
        <p:spPr>
          <a:xfrm>
            <a:off x="365760" y="2553005"/>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5</a:t>
            </a:r>
            <a:endParaRPr lang="en-US" sz="700" dirty="0"/>
          </a:p>
        </p:txBody>
      </p:sp>
      <p:sp>
        <p:nvSpPr>
          <p:cNvPr id="40" name="Text 38"/>
          <p:cNvSpPr/>
          <p:nvPr/>
        </p:nvSpPr>
        <p:spPr>
          <a:xfrm>
            <a:off x="768096" y="2488997"/>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Privacy Notice</a:t>
            </a:r>
            <a:endParaRPr lang="en-US" sz="1150" dirty="0"/>
          </a:p>
        </p:txBody>
      </p:sp>
      <p:sp>
        <p:nvSpPr>
          <p:cNvPr id="41" name="Text 39"/>
          <p:cNvSpPr/>
          <p:nvPr/>
        </p:nvSpPr>
        <p:spPr>
          <a:xfrm>
            <a:off x="768096" y="2754173"/>
            <a:ext cx="3566160" cy="201168"/>
          </a:xfrm>
          <a:prstGeom prst="rect">
            <a:avLst/>
          </a:prstGeom>
          <a:noFill/>
          <a:ln/>
        </p:spPr>
        <p:txBody>
          <a:bodyPr wrap="square" rtlCol="0" anchor="t"/>
          <a:lstStyle/>
          <a:p>
            <a:pPr marL="0" indent="0">
              <a:buNone/>
            </a:pPr>
            <a:r>
              <a:rPr lang="en-US" sz="950" dirty="0">
                <a:solidFill>
                  <a:srgbClr val="64748B"/>
                </a:solidFill>
              </a:rPr>
              <a:t>3 triggers detected  |  v4 notice drafted same day</a:t>
            </a:r>
            <a:endParaRPr lang="en-US" sz="950" dirty="0"/>
          </a:p>
        </p:txBody>
      </p:sp>
      <p:sp>
        <p:nvSpPr>
          <p:cNvPr id="42" name="Shape 40"/>
          <p:cNvSpPr/>
          <p:nvPr/>
        </p:nvSpPr>
        <p:spPr>
          <a:xfrm>
            <a:off x="4700016" y="2443277"/>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43" name="Shape 41"/>
          <p:cNvSpPr/>
          <p:nvPr/>
        </p:nvSpPr>
        <p:spPr>
          <a:xfrm>
            <a:off x="4700016" y="2443277"/>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44" name="Shape 42"/>
          <p:cNvSpPr/>
          <p:nvPr/>
        </p:nvSpPr>
        <p:spPr>
          <a:xfrm>
            <a:off x="4809744" y="2553005"/>
            <a:ext cx="329184" cy="329184"/>
          </a:xfrm>
          <a:prstGeom prst="ellipse">
            <a:avLst/>
          </a:prstGeom>
          <a:solidFill>
            <a:srgbClr val="3A7BD5"/>
          </a:solidFill>
          <a:ln w="12700">
            <a:solidFill>
              <a:srgbClr val="3A7BD5"/>
            </a:solidFill>
            <a:prstDash val="solid"/>
          </a:ln>
        </p:spPr>
        <p:txBody>
          <a:bodyPr/>
          <a:lstStyle/>
          <a:p>
            <a:endParaRPr lang="en-AU"/>
          </a:p>
        </p:txBody>
      </p:sp>
      <p:sp>
        <p:nvSpPr>
          <p:cNvPr id="45" name="Text 43"/>
          <p:cNvSpPr/>
          <p:nvPr/>
        </p:nvSpPr>
        <p:spPr>
          <a:xfrm>
            <a:off x="4809744" y="2553005"/>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6</a:t>
            </a:r>
            <a:endParaRPr lang="en-US" sz="700" dirty="0"/>
          </a:p>
        </p:txBody>
      </p:sp>
      <p:sp>
        <p:nvSpPr>
          <p:cNvPr id="46" name="Text 44"/>
          <p:cNvSpPr/>
          <p:nvPr/>
        </p:nvSpPr>
        <p:spPr>
          <a:xfrm>
            <a:off x="5212080" y="2488997"/>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DSR Management</a:t>
            </a:r>
            <a:endParaRPr lang="en-US" sz="1150" dirty="0"/>
          </a:p>
        </p:txBody>
      </p:sp>
      <p:sp>
        <p:nvSpPr>
          <p:cNvPr id="47" name="Text 45"/>
          <p:cNvSpPr/>
          <p:nvPr/>
        </p:nvSpPr>
        <p:spPr>
          <a:xfrm>
            <a:off x="5212080" y="2754173"/>
            <a:ext cx="3566160" cy="201168"/>
          </a:xfrm>
          <a:prstGeom prst="rect">
            <a:avLst/>
          </a:prstGeom>
          <a:noFill/>
          <a:ln/>
        </p:spPr>
        <p:txBody>
          <a:bodyPr wrap="square" rtlCol="0" anchor="t"/>
          <a:lstStyle/>
          <a:p>
            <a:pPr marL="0" indent="0">
              <a:buNone/>
            </a:pPr>
            <a:r>
              <a:rPr lang="en-US" sz="950" dirty="0">
                <a:solidFill>
                  <a:srgbClr val="64748B"/>
                </a:solidFill>
              </a:rPr>
              <a:t>5 requests  |  Tom's* SAR 4 days from deadline</a:t>
            </a:r>
            <a:endParaRPr lang="en-US" sz="950" dirty="0"/>
          </a:p>
        </p:txBody>
      </p:sp>
      <p:sp>
        <p:nvSpPr>
          <p:cNvPr id="48" name="Shape 46"/>
          <p:cNvSpPr/>
          <p:nvPr/>
        </p:nvSpPr>
        <p:spPr>
          <a:xfrm>
            <a:off x="256032" y="3043123"/>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49" name="Shape 47"/>
          <p:cNvSpPr/>
          <p:nvPr/>
        </p:nvSpPr>
        <p:spPr>
          <a:xfrm>
            <a:off x="256032" y="3043123"/>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50" name="Shape 48"/>
          <p:cNvSpPr/>
          <p:nvPr/>
        </p:nvSpPr>
        <p:spPr>
          <a:xfrm>
            <a:off x="365760" y="3152851"/>
            <a:ext cx="329184" cy="329184"/>
          </a:xfrm>
          <a:prstGeom prst="ellipse">
            <a:avLst/>
          </a:prstGeom>
          <a:solidFill>
            <a:srgbClr val="3A7BD5"/>
          </a:solidFill>
          <a:ln w="12700">
            <a:solidFill>
              <a:srgbClr val="3A7BD5"/>
            </a:solidFill>
            <a:prstDash val="solid"/>
          </a:ln>
        </p:spPr>
        <p:txBody>
          <a:bodyPr/>
          <a:lstStyle/>
          <a:p>
            <a:endParaRPr lang="en-AU"/>
          </a:p>
        </p:txBody>
      </p:sp>
      <p:sp>
        <p:nvSpPr>
          <p:cNvPr id="51" name="Text 49"/>
          <p:cNvSpPr/>
          <p:nvPr/>
        </p:nvSpPr>
        <p:spPr>
          <a:xfrm>
            <a:off x="365760" y="3152851"/>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7</a:t>
            </a:r>
            <a:endParaRPr lang="en-US" sz="700" dirty="0"/>
          </a:p>
        </p:txBody>
      </p:sp>
      <p:sp>
        <p:nvSpPr>
          <p:cNvPr id="52" name="Text 50"/>
          <p:cNvSpPr/>
          <p:nvPr/>
        </p:nvSpPr>
        <p:spPr>
          <a:xfrm>
            <a:off x="768096" y="3088843"/>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Records &amp; Retention</a:t>
            </a:r>
            <a:endParaRPr lang="en-US" sz="1150" dirty="0"/>
          </a:p>
        </p:txBody>
      </p:sp>
      <p:sp>
        <p:nvSpPr>
          <p:cNvPr id="53" name="Text 51"/>
          <p:cNvSpPr/>
          <p:nvPr/>
        </p:nvSpPr>
        <p:spPr>
          <a:xfrm>
            <a:off x="768096" y="3354019"/>
            <a:ext cx="3566160" cy="201168"/>
          </a:xfrm>
          <a:prstGeom prst="rect">
            <a:avLst/>
          </a:prstGeom>
          <a:noFill/>
          <a:ln/>
        </p:spPr>
        <p:txBody>
          <a:bodyPr wrap="square" rtlCol="0" anchor="t"/>
          <a:lstStyle/>
          <a:p>
            <a:pPr marL="0" indent="0">
              <a:buNone/>
            </a:pPr>
            <a:r>
              <a:rPr lang="en-US" sz="950" dirty="0">
                <a:solidFill>
                  <a:srgbClr val="64748B"/>
                </a:solidFill>
              </a:rPr>
              <a:t>2 records overdue  |  passport 7 years 2 months  |  legal hold</a:t>
            </a:r>
            <a:endParaRPr lang="en-US" sz="950" dirty="0"/>
          </a:p>
        </p:txBody>
      </p:sp>
      <p:sp>
        <p:nvSpPr>
          <p:cNvPr id="54" name="Shape 52"/>
          <p:cNvSpPr/>
          <p:nvPr/>
        </p:nvSpPr>
        <p:spPr>
          <a:xfrm>
            <a:off x="4700016" y="3043123"/>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55" name="Shape 53"/>
          <p:cNvSpPr/>
          <p:nvPr/>
        </p:nvSpPr>
        <p:spPr>
          <a:xfrm>
            <a:off x="4700016" y="3043123"/>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56" name="Shape 54"/>
          <p:cNvSpPr/>
          <p:nvPr/>
        </p:nvSpPr>
        <p:spPr>
          <a:xfrm>
            <a:off x="4809744" y="3152851"/>
            <a:ext cx="329184" cy="329184"/>
          </a:xfrm>
          <a:prstGeom prst="ellipse">
            <a:avLst/>
          </a:prstGeom>
          <a:solidFill>
            <a:srgbClr val="3A7BD5"/>
          </a:solidFill>
          <a:ln w="12700">
            <a:solidFill>
              <a:srgbClr val="3A7BD5"/>
            </a:solidFill>
            <a:prstDash val="solid"/>
          </a:ln>
        </p:spPr>
        <p:txBody>
          <a:bodyPr/>
          <a:lstStyle/>
          <a:p>
            <a:endParaRPr lang="en-AU"/>
          </a:p>
        </p:txBody>
      </p:sp>
      <p:sp>
        <p:nvSpPr>
          <p:cNvPr id="57" name="Text 55"/>
          <p:cNvSpPr/>
          <p:nvPr/>
        </p:nvSpPr>
        <p:spPr>
          <a:xfrm>
            <a:off x="4809744" y="3152851"/>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8</a:t>
            </a:r>
            <a:endParaRPr lang="en-US" sz="700" dirty="0"/>
          </a:p>
        </p:txBody>
      </p:sp>
      <p:sp>
        <p:nvSpPr>
          <p:cNvPr id="58" name="Text 56"/>
          <p:cNvSpPr/>
          <p:nvPr/>
        </p:nvSpPr>
        <p:spPr>
          <a:xfrm>
            <a:off x="5212080" y="3088843"/>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Risk &amp; Compliance</a:t>
            </a:r>
            <a:endParaRPr lang="en-US" sz="1150" dirty="0"/>
          </a:p>
        </p:txBody>
      </p:sp>
      <p:sp>
        <p:nvSpPr>
          <p:cNvPr id="59" name="Text 57"/>
          <p:cNvSpPr/>
          <p:nvPr/>
        </p:nvSpPr>
        <p:spPr>
          <a:xfrm>
            <a:off x="5212080" y="3354019"/>
            <a:ext cx="3566160" cy="201168"/>
          </a:xfrm>
          <a:prstGeom prst="rect">
            <a:avLst/>
          </a:prstGeom>
          <a:noFill/>
          <a:ln/>
        </p:spPr>
        <p:txBody>
          <a:bodyPr wrap="square" rtlCol="0" anchor="t"/>
          <a:lstStyle/>
          <a:p>
            <a:pPr marL="0" indent="0">
              <a:buNone/>
            </a:pPr>
            <a:r>
              <a:rPr lang="en-US" sz="950" dirty="0">
                <a:solidFill>
                  <a:srgbClr val="64748B"/>
                </a:solidFill>
              </a:rPr>
              <a:t>Risk score 58/100  |  AU 62%  |  GDPR 58% compliant</a:t>
            </a:r>
            <a:endParaRPr lang="en-US" sz="950" dirty="0"/>
          </a:p>
        </p:txBody>
      </p:sp>
      <p:sp>
        <p:nvSpPr>
          <p:cNvPr id="60" name="Shape 58"/>
          <p:cNvSpPr/>
          <p:nvPr/>
        </p:nvSpPr>
        <p:spPr>
          <a:xfrm>
            <a:off x="256032" y="3642970"/>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61" name="Shape 59"/>
          <p:cNvSpPr/>
          <p:nvPr/>
        </p:nvSpPr>
        <p:spPr>
          <a:xfrm>
            <a:off x="256032" y="3642970"/>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62" name="Shape 60"/>
          <p:cNvSpPr/>
          <p:nvPr/>
        </p:nvSpPr>
        <p:spPr>
          <a:xfrm>
            <a:off x="365760" y="3752698"/>
            <a:ext cx="329184" cy="329184"/>
          </a:xfrm>
          <a:prstGeom prst="ellipse">
            <a:avLst/>
          </a:prstGeom>
          <a:solidFill>
            <a:srgbClr val="3A7BD5"/>
          </a:solidFill>
          <a:ln w="12700">
            <a:solidFill>
              <a:srgbClr val="3A7BD5"/>
            </a:solidFill>
            <a:prstDash val="solid"/>
          </a:ln>
        </p:spPr>
        <p:txBody>
          <a:bodyPr/>
          <a:lstStyle/>
          <a:p>
            <a:endParaRPr lang="en-AU"/>
          </a:p>
        </p:txBody>
      </p:sp>
      <p:sp>
        <p:nvSpPr>
          <p:cNvPr id="63" name="Text 61"/>
          <p:cNvSpPr/>
          <p:nvPr/>
        </p:nvSpPr>
        <p:spPr>
          <a:xfrm>
            <a:off x="365760" y="3752698"/>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9</a:t>
            </a:r>
            <a:endParaRPr lang="en-US" sz="700" dirty="0"/>
          </a:p>
        </p:txBody>
      </p:sp>
      <p:sp>
        <p:nvSpPr>
          <p:cNvPr id="64" name="Text 62"/>
          <p:cNvSpPr/>
          <p:nvPr/>
        </p:nvSpPr>
        <p:spPr>
          <a:xfrm>
            <a:off x="768096" y="3688690"/>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Breach Response</a:t>
            </a:r>
            <a:endParaRPr lang="en-US" sz="1150" dirty="0"/>
          </a:p>
        </p:txBody>
      </p:sp>
      <p:sp>
        <p:nvSpPr>
          <p:cNvPr id="65" name="Text 63"/>
          <p:cNvSpPr/>
          <p:nvPr/>
        </p:nvSpPr>
        <p:spPr>
          <a:xfrm>
            <a:off x="768096" y="3953866"/>
            <a:ext cx="3566160" cy="201168"/>
          </a:xfrm>
          <a:prstGeom prst="rect">
            <a:avLst/>
          </a:prstGeom>
          <a:noFill/>
          <a:ln/>
        </p:spPr>
        <p:txBody>
          <a:bodyPr wrap="square" rtlCol="0" anchor="t"/>
          <a:lstStyle/>
          <a:p>
            <a:pPr marL="0" indent="0">
              <a:buNone/>
            </a:pPr>
            <a:r>
              <a:rPr lang="en-US" sz="950" dirty="0">
                <a:solidFill>
                  <a:srgbClr val="64748B"/>
                </a:solidFill>
              </a:rPr>
              <a:t>Notifiable breach  |  ICO + OAIC windows expired  |  6 drafts</a:t>
            </a:r>
            <a:endParaRPr lang="en-US" sz="950" dirty="0"/>
          </a:p>
        </p:txBody>
      </p:sp>
      <p:sp>
        <p:nvSpPr>
          <p:cNvPr id="66" name="Shape 64"/>
          <p:cNvSpPr/>
          <p:nvPr/>
        </p:nvSpPr>
        <p:spPr>
          <a:xfrm>
            <a:off x="4700016" y="3642970"/>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67" name="Shape 65"/>
          <p:cNvSpPr/>
          <p:nvPr/>
        </p:nvSpPr>
        <p:spPr>
          <a:xfrm>
            <a:off x="4700016" y="3642970"/>
            <a:ext cx="64008" cy="548640"/>
          </a:xfrm>
          <a:prstGeom prst="roundRect">
            <a:avLst>
              <a:gd name="adj" fmla="val 57143"/>
            </a:avLst>
          </a:prstGeom>
          <a:solidFill>
            <a:srgbClr val="3A7BD5"/>
          </a:solidFill>
          <a:ln w="12700">
            <a:solidFill>
              <a:srgbClr val="3A7BD5"/>
            </a:solidFill>
            <a:prstDash val="solid"/>
          </a:ln>
        </p:spPr>
        <p:txBody>
          <a:bodyPr/>
          <a:lstStyle/>
          <a:p>
            <a:endParaRPr lang="en-AU"/>
          </a:p>
        </p:txBody>
      </p:sp>
      <p:sp>
        <p:nvSpPr>
          <p:cNvPr id="68" name="Shape 66"/>
          <p:cNvSpPr/>
          <p:nvPr/>
        </p:nvSpPr>
        <p:spPr>
          <a:xfrm>
            <a:off x="4809744" y="3752698"/>
            <a:ext cx="329184" cy="329184"/>
          </a:xfrm>
          <a:prstGeom prst="ellipse">
            <a:avLst/>
          </a:prstGeom>
          <a:solidFill>
            <a:srgbClr val="3A7BD5"/>
          </a:solidFill>
          <a:ln w="12700">
            <a:solidFill>
              <a:srgbClr val="3A7BD5"/>
            </a:solidFill>
            <a:prstDash val="solid"/>
          </a:ln>
        </p:spPr>
        <p:txBody>
          <a:bodyPr/>
          <a:lstStyle/>
          <a:p>
            <a:endParaRPr lang="en-AU"/>
          </a:p>
        </p:txBody>
      </p:sp>
      <p:sp>
        <p:nvSpPr>
          <p:cNvPr id="69" name="Text 67"/>
          <p:cNvSpPr/>
          <p:nvPr/>
        </p:nvSpPr>
        <p:spPr>
          <a:xfrm>
            <a:off x="4809744" y="3752698"/>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10</a:t>
            </a:r>
            <a:endParaRPr lang="en-US" sz="700" dirty="0"/>
          </a:p>
        </p:txBody>
      </p:sp>
      <p:sp>
        <p:nvSpPr>
          <p:cNvPr id="70" name="Text 68"/>
          <p:cNvSpPr/>
          <p:nvPr/>
        </p:nvSpPr>
        <p:spPr>
          <a:xfrm>
            <a:off x="5212080" y="3688690"/>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Assessment Mgmt</a:t>
            </a:r>
            <a:endParaRPr lang="en-US" sz="1150" dirty="0"/>
          </a:p>
        </p:txBody>
      </p:sp>
      <p:sp>
        <p:nvSpPr>
          <p:cNvPr id="71" name="Text 69"/>
          <p:cNvSpPr/>
          <p:nvPr/>
        </p:nvSpPr>
        <p:spPr>
          <a:xfrm>
            <a:off x="5212080" y="3953866"/>
            <a:ext cx="3566160" cy="201168"/>
          </a:xfrm>
          <a:prstGeom prst="rect">
            <a:avLst/>
          </a:prstGeom>
          <a:noFill/>
          <a:ln/>
        </p:spPr>
        <p:txBody>
          <a:bodyPr wrap="square" rtlCol="0" anchor="t"/>
          <a:lstStyle/>
          <a:p>
            <a:pPr marL="0" indent="0">
              <a:buNone/>
            </a:pPr>
            <a:r>
              <a:rPr lang="en-US" sz="950" dirty="0">
                <a:solidFill>
                  <a:srgbClr val="64748B"/>
                </a:solidFill>
              </a:rPr>
              <a:t>DPIA drafted in 0 days  |  3 PIAs triggered</a:t>
            </a:r>
            <a:endParaRPr lang="en-US" sz="950" dirty="0"/>
          </a:p>
        </p:txBody>
      </p:sp>
      <p:sp>
        <p:nvSpPr>
          <p:cNvPr id="72" name="Shape 70"/>
          <p:cNvSpPr/>
          <p:nvPr/>
        </p:nvSpPr>
        <p:spPr>
          <a:xfrm>
            <a:off x="2478024" y="4242816"/>
            <a:ext cx="4187952" cy="548640"/>
          </a:xfrm>
          <a:prstGeom prst="roundRect">
            <a:avLst>
              <a:gd name="adj" fmla="val 11667"/>
            </a:avLst>
          </a:prstGeom>
          <a:solidFill>
            <a:srgbClr val="E8EEF9"/>
          </a:solidFill>
          <a:ln w="12700">
            <a:solidFill>
              <a:srgbClr val="D0DCF5"/>
            </a:solidFill>
            <a:prstDash val="solid"/>
          </a:ln>
        </p:spPr>
        <p:txBody>
          <a:bodyPr/>
          <a:lstStyle/>
          <a:p>
            <a:endParaRPr lang="en-AU"/>
          </a:p>
        </p:txBody>
      </p:sp>
      <p:sp>
        <p:nvSpPr>
          <p:cNvPr id="73" name="Shape 71"/>
          <p:cNvSpPr/>
          <p:nvPr/>
        </p:nvSpPr>
        <p:spPr>
          <a:xfrm>
            <a:off x="2478024" y="4242816"/>
            <a:ext cx="64008" cy="548640"/>
          </a:xfrm>
          <a:prstGeom prst="roundRect">
            <a:avLst>
              <a:gd name="adj" fmla="val 57143"/>
            </a:avLst>
          </a:prstGeom>
          <a:solidFill>
            <a:srgbClr val="0D9488"/>
          </a:solidFill>
          <a:ln w="12700">
            <a:solidFill>
              <a:srgbClr val="0D9488"/>
            </a:solidFill>
            <a:prstDash val="solid"/>
          </a:ln>
        </p:spPr>
        <p:txBody>
          <a:bodyPr/>
          <a:lstStyle/>
          <a:p>
            <a:endParaRPr lang="en-AU"/>
          </a:p>
        </p:txBody>
      </p:sp>
      <p:sp>
        <p:nvSpPr>
          <p:cNvPr id="74" name="Shape 72"/>
          <p:cNvSpPr/>
          <p:nvPr/>
        </p:nvSpPr>
        <p:spPr>
          <a:xfrm>
            <a:off x="2587752" y="4352544"/>
            <a:ext cx="329184" cy="329184"/>
          </a:xfrm>
          <a:prstGeom prst="ellipse">
            <a:avLst/>
          </a:prstGeom>
          <a:solidFill>
            <a:srgbClr val="0D9488"/>
          </a:solidFill>
          <a:ln w="12700">
            <a:solidFill>
              <a:srgbClr val="0D9488"/>
            </a:solidFill>
            <a:prstDash val="solid"/>
          </a:ln>
        </p:spPr>
        <p:txBody>
          <a:bodyPr/>
          <a:lstStyle/>
          <a:p>
            <a:endParaRPr lang="en-AU"/>
          </a:p>
        </p:txBody>
      </p:sp>
      <p:sp>
        <p:nvSpPr>
          <p:cNvPr id="75" name="Text 73"/>
          <p:cNvSpPr/>
          <p:nvPr/>
        </p:nvSpPr>
        <p:spPr>
          <a:xfrm>
            <a:off x="2587752" y="4352544"/>
            <a:ext cx="329184" cy="32918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11</a:t>
            </a:r>
            <a:endParaRPr lang="en-US" sz="700" dirty="0"/>
          </a:p>
        </p:txBody>
      </p:sp>
      <p:sp>
        <p:nvSpPr>
          <p:cNvPr id="76" name="Text 74"/>
          <p:cNvSpPr/>
          <p:nvPr/>
        </p:nvSpPr>
        <p:spPr>
          <a:xfrm>
            <a:off x="2990088" y="4288536"/>
            <a:ext cx="3566160" cy="256032"/>
          </a:xfrm>
          <a:prstGeom prst="rect">
            <a:avLst/>
          </a:prstGeom>
          <a:noFill/>
          <a:ln/>
        </p:spPr>
        <p:txBody>
          <a:bodyPr wrap="square" rtlCol="0" anchor="ctr"/>
          <a:lstStyle/>
          <a:p>
            <a:pPr marL="0" indent="0">
              <a:buNone/>
            </a:pPr>
            <a:r>
              <a:rPr lang="en-US" sz="1150" b="1" dirty="0">
                <a:solidFill>
                  <a:srgbClr val="1E2761"/>
                </a:solidFill>
                <a:latin typeface="Cambria" pitchFamily="34" charset="0"/>
                <a:ea typeface="Cambria" pitchFamily="34" charset="-122"/>
                <a:cs typeface="Cambria" pitchFamily="34" charset="-120"/>
              </a:rPr>
              <a:t>Governance &amp; Audit</a:t>
            </a:r>
            <a:endParaRPr lang="en-US" sz="1150" dirty="0"/>
          </a:p>
        </p:txBody>
      </p:sp>
      <p:sp>
        <p:nvSpPr>
          <p:cNvPr id="77" name="Text 75"/>
          <p:cNvSpPr/>
          <p:nvPr/>
        </p:nvSpPr>
        <p:spPr>
          <a:xfrm>
            <a:off x="2990088" y="4553712"/>
            <a:ext cx="3566160" cy="201168"/>
          </a:xfrm>
          <a:prstGeom prst="rect">
            <a:avLst/>
          </a:prstGeom>
          <a:noFill/>
          <a:ln/>
        </p:spPr>
        <p:txBody>
          <a:bodyPr wrap="square" rtlCol="0" anchor="t"/>
          <a:lstStyle/>
          <a:p>
            <a:pPr marL="0" indent="0">
              <a:buNone/>
            </a:pPr>
            <a:r>
              <a:rPr lang="en-US" sz="950" dirty="0">
                <a:solidFill>
                  <a:srgbClr val="64748B"/>
                </a:solidFill>
              </a:rPr>
              <a:t>6 DPO decisions queued  |  full audit trail  |  policy register</a:t>
            </a:r>
            <a:endParaRPr lang="en-US" sz="950" dirty="0"/>
          </a:p>
        </p:txBody>
      </p:sp>
      <p:sp>
        <p:nvSpPr>
          <p:cNvPr id="78" name="Text 76"/>
          <p:cNvSpPr/>
          <p:nvPr/>
        </p:nvSpPr>
        <p:spPr>
          <a:xfrm>
            <a:off x="256032" y="4681728"/>
            <a:ext cx="8229600" cy="164592"/>
          </a:xfrm>
          <a:prstGeom prst="rect">
            <a:avLst/>
          </a:prstGeom>
          <a:noFill/>
          <a:ln/>
        </p:spPr>
        <p:txBody>
          <a:bodyPr wrap="square" rtlCol="0" anchor="ctr"/>
          <a:lstStyle/>
          <a:p>
            <a:pPr marL="0" indent="0">
              <a:buNone/>
            </a:pPr>
            <a:r>
              <a:rPr lang="en-US" sz="850" i="1" dirty="0">
                <a:solidFill>
                  <a:srgbClr val="64748B"/>
                </a:solidFill>
              </a:rPr>
              <a:t>* Tom Wallace: fictional data subject used for platform demonstration purposes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HOW IT WAS BUILT</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AI as Architect and Developer — New Economics of Privacy Tech</a:t>
            </a:r>
            <a:endParaRPr lang="en-US" sz="18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5</a:t>
            </a:r>
            <a:endParaRPr lang="en-US" sz="900" dirty="0"/>
          </a:p>
        </p:txBody>
      </p:sp>
      <p:sp>
        <p:nvSpPr>
          <p:cNvPr id="6" name="Shape 4"/>
          <p:cNvSpPr/>
          <p:nvPr/>
        </p:nvSpPr>
        <p:spPr>
          <a:xfrm>
            <a:off x="256032" y="1060704"/>
            <a:ext cx="4023360" cy="3657600"/>
          </a:xfrm>
          <a:prstGeom prst="roundRect">
            <a:avLst>
              <a:gd name="adj" fmla="val 3500"/>
            </a:avLst>
          </a:prstGeom>
          <a:solidFill>
            <a:srgbClr val="F1F5F9"/>
          </a:solidFill>
          <a:ln w="25400">
            <a:solidFill>
              <a:srgbClr val="CBD5E1"/>
            </a:solidFill>
            <a:prstDash val="solid"/>
          </a:ln>
          <a:effectLst>
            <a:outerShdw blurRad="76200" dist="25400" dir="2700000" algn="bl" rotWithShape="0">
              <a:srgbClr val="1E2761">
                <a:alpha val="8000"/>
              </a:srgbClr>
            </a:outerShdw>
          </a:effectLst>
        </p:spPr>
        <p:txBody>
          <a:bodyPr/>
          <a:lstStyle/>
          <a:p>
            <a:endParaRPr lang="en-AU"/>
          </a:p>
        </p:txBody>
      </p:sp>
      <p:sp>
        <p:nvSpPr>
          <p:cNvPr id="7" name="Text 5"/>
          <p:cNvSpPr/>
          <p:nvPr/>
        </p:nvSpPr>
        <p:spPr>
          <a:xfrm>
            <a:off x="256032" y="1115568"/>
            <a:ext cx="4023360" cy="420624"/>
          </a:xfrm>
          <a:prstGeom prst="rect">
            <a:avLst/>
          </a:prstGeom>
          <a:noFill/>
          <a:ln/>
        </p:spPr>
        <p:txBody>
          <a:bodyPr wrap="square" rtlCol="0" anchor="ctr"/>
          <a:lstStyle/>
          <a:p>
            <a:pPr marL="0" indent="0" algn="ctr">
              <a:buNone/>
            </a:pPr>
            <a:r>
              <a:rPr lang="en-US" sz="1500" b="1" dirty="0">
                <a:solidFill>
                  <a:srgbClr val="475569"/>
                </a:solidFill>
                <a:latin typeface="Cambria" pitchFamily="34" charset="0"/>
                <a:ea typeface="Cambria" pitchFamily="34" charset="-122"/>
                <a:cs typeface="Cambria" pitchFamily="34" charset="-120"/>
              </a:rPr>
              <a:t>Traditional Platform Build</a:t>
            </a:r>
            <a:endParaRPr lang="en-US" sz="1500" dirty="0"/>
          </a:p>
        </p:txBody>
      </p:sp>
      <p:sp>
        <p:nvSpPr>
          <p:cNvPr id="8" name="Shape 6"/>
          <p:cNvSpPr/>
          <p:nvPr/>
        </p:nvSpPr>
        <p:spPr>
          <a:xfrm>
            <a:off x="384048" y="160934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9" name="Text 7"/>
          <p:cNvSpPr/>
          <p:nvPr/>
        </p:nvSpPr>
        <p:spPr>
          <a:xfrm>
            <a:off x="493776" y="1609344"/>
            <a:ext cx="3547872" cy="320040"/>
          </a:xfrm>
          <a:prstGeom prst="rect">
            <a:avLst/>
          </a:prstGeom>
          <a:noFill/>
          <a:ln/>
        </p:spPr>
        <p:txBody>
          <a:bodyPr wrap="square" rtlCol="0" anchor="ctr"/>
          <a:lstStyle/>
          <a:p>
            <a:pPr marL="0" indent="0">
              <a:buNone/>
            </a:pPr>
            <a:r>
              <a:rPr lang="en-US" sz="1150" dirty="0">
                <a:solidFill>
                  <a:srgbClr val="475569"/>
                </a:solidFill>
              </a:rPr>
              <a:t>Vendor selection: 3-6 months</a:t>
            </a:r>
            <a:endParaRPr lang="en-US" sz="1150" dirty="0"/>
          </a:p>
        </p:txBody>
      </p:sp>
      <p:sp>
        <p:nvSpPr>
          <p:cNvPr id="10" name="Shape 8"/>
          <p:cNvSpPr/>
          <p:nvPr/>
        </p:nvSpPr>
        <p:spPr>
          <a:xfrm>
            <a:off x="384048" y="197510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11" name="Text 9"/>
          <p:cNvSpPr/>
          <p:nvPr/>
        </p:nvSpPr>
        <p:spPr>
          <a:xfrm>
            <a:off x="493776" y="1975104"/>
            <a:ext cx="3547872" cy="320040"/>
          </a:xfrm>
          <a:prstGeom prst="rect">
            <a:avLst/>
          </a:prstGeom>
          <a:noFill/>
          <a:ln/>
        </p:spPr>
        <p:txBody>
          <a:bodyPr wrap="square" rtlCol="0" anchor="ctr"/>
          <a:lstStyle/>
          <a:p>
            <a:pPr marL="0" indent="0">
              <a:buNone/>
            </a:pPr>
            <a:r>
              <a:rPr lang="en-US" sz="1150" dirty="0">
                <a:solidFill>
                  <a:srgbClr val="475569"/>
                </a:solidFill>
              </a:rPr>
              <a:t>Contract and procurement: 2-3 months</a:t>
            </a:r>
            <a:endParaRPr lang="en-US" sz="1150" dirty="0"/>
          </a:p>
        </p:txBody>
      </p:sp>
      <p:sp>
        <p:nvSpPr>
          <p:cNvPr id="12" name="Shape 10"/>
          <p:cNvSpPr/>
          <p:nvPr/>
        </p:nvSpPr>
        <p:spPr>
          <a:xfrm>
            <a:off x="384048" y="234086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13" name="Text 11"/>
          <p:cNvSpPr/>
          <p:nvPr/>
        </p:nvSpPr>
        <p:spPr>
          <a:xfrm>
            <a:off x="493776" y="2340864"/>
            <a:ext cx="3547872" cy="320040"/>
          </a:xfrm>
          <a:prstGeom prst="rect">
            <a:avLst/>
          </a:prstGeom>
          <a:noFill/>
          <a:ln/>
        </p:spPr>
        <p:txBody>
          <a:bodyPr wrap="square" rtlCol="0" anchor="ctr"/>
          <a:lstStyle/>
          <a:p>
            <a:pPr marL="0" indent="0">
              <a:buNone/>
            </a:pPr>
            <a:r>
              <a:rPr lang="en-US" sz="1150" dirty="0">
                <a:solidFill>
                  <a:srgbClr val="475569"/>
                </a:solidFill>
              </a:rPr>
              <a:t>Implementation and config: 6-12 months</a:t>
            </a:r>
            <a:endParaRPr lang="en-US" sz="1150" dirty="0"/>
          </a:p>
        </p:txBody>
      </p:sp>
      <p:sp>
        <p:nvSpPr>
          <p:cNvPr id="14" name="Shape 12"/>
          <p:cNvSpPr/>
          <p:nvPr/>
        </p:nvSpPr>
        <p:spPr>
          <a:xfrm>
            <a:off x="384048" y="270662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15" name="Text 13"/>
          <p:cNvSpPr/>
          <p:nvPr/>
        </p:nvSpPr>
        <p:spPr>
          <a:xfrm>
            <a:off x="493776" y="2706624"/>
            <a:ext cx="3547872" cy="320040"/>
          </a:xfrm>
          <a:prstGeom prst="rect">
            <a:avLst/>
          </a:prstGeom>
          <a:noFill/>
          <a:ln/>
        </p:spPr>
        <p:txBody>
          <a:bodyPr wrap="square" rtlCol="0" anchor="ctr"/>
          <a:lstStyle/>
          <a:p>
            <a:pPr marL="0" indent="0">
              <a:buNone/>
            </a:pPr>
            <a:r>
              <a:rPr lang="en-US" sz="1150" dirty="0">
                <a:solidFill>
                  <a:srgbClr val="475569"/>
                </a:solidFill>
              </a:rPr>
              <a:t>Training and go-live: 2-3 months</a:t>
            </a:r>
            <a:endParaRPr lang="en-US" sz="1150" dirty="0"/>
          </a:p>
        </p:txBody>
      </p:sp>
      <p:sp>
        <p:nvSpPr>
          <p:cNvPr id="16" name="Shape 14"/>
          <p:cNvSpPr/>
          <p:nvPr/>
        </p:nvSpPr>
        <p:spPr>
          <a:xfrm>
            <a:off x="384048" y="307238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17" name="Text 15"/>
          <p:cNvSpPr/>
          <p:nvPr/>
        </p:nvSpPr>
        <p:spPr>
          <a:xfrm>
            <a:off x="493776" y="3072384"/>
            <a:ext cx="3547872" cy="320040"/>
          </a:xfrm>
          <a:prstGeom prst="rect">
            <a:avLst/>
          </a:prstGeom>
          <a:noFill/>
          <a:ln/>
        </p:spPr>
        <p:txBody>
          <a:bodyPr wrap="square" rtlCol="0" anchor="ctr"/>
          <a:lstStyle/>
          <a:p>
            <a:pPr marL="0" indent="0">
              <a:buNone/>
            </a:pPr>
            <a:r>
              <a:rPr lang="en-US" sz="1150" dirty="0">
                <a:solidFill>
                  <a:srgbClr val="475569"/>
                </a:solidFill>
              </a:rPr>
              <a:t>Total: 12-24 months</a:t>
            </a:r>
            <a:endParaRPr lang="en-US" sz="1150" dirty="0"/>
          </a:p>
        </p:txBody>
      </p:sp>
      <p:sp>
        <p:nvSpPr>
          <p:cNvPr id="18" name="Shape 16"/>
          <p:cNvSpPr/>
          <p:nvPr/>
        </p:nvSpPr>
        <p:spPr>
          <a:xfrm>
            <a:off x="384048" y="343814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19" name="Text 17"/>
          <p:cNvSpPr/>
          <p:nvPr/>
        </p:nvSpPr>
        <p:spPr>
          <a:xfrm>
            <a:off x="493776" y="3438144"/>
            <a:ext cx="3547872" cy="320040"/>
          </a:xfrm>
          <a:prstGeom prst="rect">
            <a:avLst/>
          </a:prstGeom>
          <a:noFill/>
          <a:ln/>
        </p:spPr>
        <p:txBody>
          <a:bodyPr wrap="square" rtlCol="0" anchor="ctr"/>
          <a:lstStyle/>
          <a:p>
            <a:pPr marL="0" indent="0">
              <a:buNone/>
            </a:pPr>
            <a:r>
              <a:rPr lang="en-US" sz="1150" dirty="0">
                <a:solidFill>
                  <a:srgbClr val="475569"/>
                </a:solidFill>
              </a:rPr>
              <a:t>Cost: $500K to $2M+</a:t>
            </a:r>
            <a:endParaRPr lang="en-US" sz="1150" dirty="0"/>
          </a:p>
        </p:txBody>
      </p:sp>
      <p:sp>
        <p:nvSpPr>
          <p:cNvPr id="20" name="Shape 18"/>
          <p:cNvSpPr/>
          <p:nvPr/>
        </p:nvSpPr>
        <p:spPr>
          <a:xfrm>
            <a:off x="384048" y="380390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21" name="Text 19"/>
          <p:cNvSpPr/>
          <p:nvPr/>
        </p:nvSpPr>
        <p:spPr>
          <a:xfrm>
            <a:off x="493776" y="3803904"/>
            <a:ext cx="3547872" cy="320040"/>
          </a:xfrm>
          <a:prstGeom prst="rect">
            <a:avLst/>
          </a:prstGeom>
          <a:noFill/>
          <a:ln/>
        </p:spPr>
        <p:txBody>
          <a:bodyPr wrap="square" rtlCol="0" anchor="ctr"/>
          <a:lstStyle/>
          <a:p>
            <a:pPr marL="0" indent="0">
              <a:buNone/>
            </a:pPr>
            <a:r>
              <a:rPr lang="en-US" sz="1150" dirty="0">
                <a:solidFill>
                  <a:srgbClr val="475569"/>
                </a:solidFill>
              </a:rPr>
              <a:t>Customisation: another cycle</a:t>
            </a:r>
            <a:endParaRPr lang="en-US" sz="1150" dirty="0"/>
          </a:p>
        </p:txBody>
      </p:sp>
      <p:sp>
        <p:nvSpPr>
          <p:cNvPr id="22" name="Shape 20"/>
          <p:cNvSpPr/>
          <p:nvPr/>
        </p:nvSpPr>
        <p:spPr>
          <a:xfrm>
            <a:off x="384048" y="4169664"/>
            <a:ext cx="3767328" cy="320040"/>
          </a:xfrm>
          <a:prstGeom prst="roundRect">
            <a:avLst>
              <a:gd name="adj" fmla="val 11429"/>
            </a:avLst>
          </a:prstGeom>
          <a:solidFill>
            <a:srgbClr val="FFFFFF"/>
          </a:solidFill>
          <a:ln w="12700">
            <a:solidFill>
              <a:srgbClr val="CBD5E1"/>
            </a:solidFill>
            <a:prstDash val="solid"/>
          </a:ln>
        </p:spPr>
        <p:txBody>
          <a:bodyPr/>
          <a:lstStyle/>
          <a:p>
            <a:endParaRPr lang="en-AU"/>
          </a:p>
        </p:txBody>
      </p:sp>
      <p:sp>
        <p:nvSpPr>
          <p:cNvPr id="23" name="Text 21"/>
          <p:cNvSpPr/>
          <p:nvPr/>
        </p:nvSpPr>
        <p:spPr>
          <a:xfrm>
            <a:off x="493776" y="4169664"/>
            <a:ext cx="3547872" cy="320040"/>
          </a:xfrm>
          <a:prstGeom prst="rect">
            <a:avLst/>
          </a:prstGeom>
          <a:noFill/>
          <a:ln/>
        </p:spPr>
        <p:txBody>
          <a:bodyPr wrap="square" rtlCol="0" anchor="ctr"/>
          <a:lstStyle/>
          <a:p>
            <a:pPr marL="0" indent="0">
              <a:buNone/>
            </a:pPr>
            <a:r>
              <a:rPr lang="en-US" sz="1150" dirty="0">
                <a:solidFill>
                  <a:srgbClr val="475569"/>
                </a:solidFill>
              </a:rPr>
              <a:t>Jurisdiction gaps: patched manually</a:t>
            </a:r>
            <a:endParaRPr lang="en-US" sz="1150" dirty="0"/>
          </a:p>
        </p:txBody>
      </p:sp>
      <p:sp>
        <p:nvSpPr>
          <p:cNvPr id="24" name="Shape 22"/>
          <p:cNvSpPr/>
          <p:nvPr/>
        </p:nvSpPr>
        <p:spPr>
          <a:xfrm>
            <a:off x="4572000" y="1060704"/>
            <a:ext cx="4315968" cy="3657600"/>
          </a:xfrm>
          <a:prstGeom prst="roundRect">
            <a:avLst>
              <a:gd name="adj" fmla="val 3500"/>
            </a:avLst>
          </a:prstGeom>
          <a:solidFill>
            <a:srgbClr val="E8EEF9"/>
          </a:solidFill>
          <a:ln w="25400">
            <a:solidFill>
              <a:srgbClr val="3A7BD5"/>
            </a:solidFill>
            <a:prstDash val="solid"/>
          </a:ln>
          <a:effectLst>
            <a:outerShdw blurRad="76200" dist="25400" dir="2700000" algn="bl" rotWithShape="0">
              <a:srgbClr val="1E2761">
                <a:alpha val="8000"/>
              </a:srgbClr>
            </a:outerShdw>
          </a:effectLst>
        </p:spPr>
        <p:txBody>
          <a:bodyPr/>
          <a:lstStyle/>
          <a:p>
            <a:endParaRPr lang="en-AU"/>
          </a:p>
        </p:txBody>
      </p:sp>
      <p:sp>
        <p:nvSpPr>
          <p:cNvPr id="25" name="Text 23"/>
          <p:cNvSpPr/>
          <p:nvPr/>
        </p:nvSpPr>
        <p:spPr>
          <a:xfrm>
            <a:off x="4572000" y="1115568"/>
            <a:ext cx="4315968" cy="420624"/>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AI-Native Platform Build</a:t>
            </a:r>
            <a:endParaRPr lang="en-US" sz="1500" dirty="0"/>
          </a:p>
        </p:txBody>
      </p:sp>
      <p:sp>
        <p:nvSpPr>
          <p:cNvPr id="26" name="Shape 24"/>
          <p:cNvSpPr/>
          <p:nvPr/>
        </p:nvSpPr>
        <p:spPr>
          <a:xfrm>
            <a:off x="4700016" y="160934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27" name="Text 25"/>
          <p:cNvSpPr/>
          <p:nvPr/>
        </p:nvSpPr>
        <p:spPr>
          <a:xfrm>
            <a:off x="4809744" y="1609344"/>
            <a:ext cx="3840480" cy="320040"/>
          </a:xfrm>
          <a:prstGeom prst="rect">
            <a:avLst/>
          </a:prstGeom>
          <a:noFill/>
          <a:ln/>
        </p:spPr>
        <p:txBody>
          <a:bodyPr wrap="square" rtlCol="0" anchor="ctr"/>
          <a:lstStyle/>
          <a:p>
            <a:pPr marL="0" indent="0">
              <a:buNone/>
            </a:pPr>
            <a:r>
              <a:rPr lang="en-US" sz="1150" b="1" dirty="0">
                <a:solidFill>
                  <a:srgbClr val="3A7BD5"/>
                </a:solidFill>
              </a:rPr>
              <a:t>Architecture designed with AI</a:t>
            </a:r>
            <a:r>
              <a:rPr lang="en-US" sz="1150" dirty="0">
                <a:solidFill>
                  <a:srgbClr val="1A1A2E"/>
                </a:solidFill>
              </a:rPr>
              <a:t> — what 11 layers to build and why</a:t>
            </a:r>
            <a:endParaRPr lang="en-US" sz="1150" dirty="0"/>
          </a:p>
        </p:txBody>
      </p:sp>
      <p:sp>
        <p:nvSpPr>
          <p:cNvPr id="28" name="Shape 26"/>
          <p:cNvSpPr/>
          <p:nvPr/>
        </p:nvSpPr>
        <p:spPr>
          <a:xfrm>
            <a:off x="4700016" y="197510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29" name="Text 27"/>
          <p:cNvSpPr/>
          <p:nvPr/>
        </p:nvSpPr>
        <p:spPr>
          <a:xfrm>
            <a:off x="4809744" y="1975104"/>
            <a:ext cx="3840480" cy="320040"/>
          </a:xfrm>
          <a:prstGeom prst="rect">
            <a:avLst/>
          </a:prstGeom>
          <a:noFill/>
          <a:ln/>
        </p:spPr>
        <p:txBody>
          <a:bodyPr wrap="square" rtlCol="0" anchor="ctr"/>
          <a:lstStyle/>
          <a:p>
            <a:pPr marL="0" indent="0">
              <a:buNone/>
            </a:pPr>
            <a:r>
              <a:rPr lang="en-US" sz="1150" b="1" dirty="0">
                <a:solidFill>
                  <a:srgbClr val="3A7BD5"/>
                </a:solidFill>
              </a:rPr>
              <a:t>Code written with AI</a:t>
            </a:r>
            <a:r>
              <a:rPr lang="en-US" sz="1150" dirty="0">
                <a:solidFill>
                  <a:srgbClr val="1A1A2E"/>
                </a:solidFill>
              </a:rPr>
              <a:t> — all 11 HTML layers generated and iterated</a:t>
            </a:r>
            <a:endParaRPr lang="en-US" sz="1150" dirty="0"/>
          </a:p>
        </p:txBody>
      </p:sp>
      <p:sp>
        <p:nvSpPr>
          <p:cNvPr id="30" name="Shape 28"/>
          <p:cNvSpPr/>
          <p:nvPr/>
        </p:nvSpPr>
        <p:spPr>
          <a:xfrm>
            <a:off x="4700016" y="234086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31" name="Text 29"/>
          <p:cNvSpPr/>
          <p:nvPr/>
        </p:nvSpPr>
        <p:spPr>
          <a:xfrm>
            <a:off x="4809744" y="2340864"/>
            <a:ext cx="3840480" cy="320040"/>
          </a:xfrm>
          <a:prstGeom prst="rect">
            <a:avLst/>
          </a:prstGeom>
          <a:noFill/>
          <a:ln/>
        </p:spPr>
        <p:txBody>
          <a:bodyPr wrap="square" rtlCol="0" anchor="ctr"/>
          <a:lstStyle/>
          <a:p>
            <a:pPr marL="0" indent="0">
              <a:buNone/>
            </a:pPr>
            <a:r>
              <a:rPr lang="en-US" sz="1150" b="1" dirty="0">
                <a:solidFill>
                  <a:srgbClr val="3A7BD5"/>
                </a:solidFill>
              </a:rPr>
              <a:t>Test scenarios by AI</a:t>
            </a:r>
            <a:r>
              <a:rPr lang="en-US" sz="1150" dirty="0">
                <a:solidFill>
                  <a:srgbClr val="1A1A2E"/>
                </a:solidFill>
              </a:rPr>
              <a:t> — Tom Wallace*, 10 customers, 4 jurisdictions</a:t>
            </a:r>
            <a:endParaRPr lang="en-US" sz="1150" dirty="0"/>
          </a:p>
        </p:txBody>
      </p:sp>
      <p:sp>
        <p:nvSpPr>
          <p:cNvPr id="32" name="Shape 30"/>
          <p:cNvSpPr/>
          <p:nvPr/>
        </p:nvSpPr>
        <p:spPr>
          <a:xfrm>
            <a:off x="4700016" y="270662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33" name="Text 31"/>
          <p:cNvSpPr/>
          <p:nvPr/>
        </p:nvSpPr>
        <p:spPr>
          <a:xfrm>
            <a:off x="4809744" y="2706624"/>
            <a:ext cx="3840480" cy="320040"/>
          </a:xfrm>
          <a:prstGeom prst="rect">
            <a:avLst/>
          </a:prstGeom>
          <a:noFill/>
          <a:ln/>
        </p:spPr>
        <p:txBody>
          <a:bodyPr wrap="square" rtlCol="0" anchor="ctr"/>
          <a:lstStyle/>
          <a:p>
            <a:pPr marL="0" indent="0">
              <a:buNone/>
            </a:pPr>
            <a:r>
              <a:rPr lang="en-US" sz="1150" b="1" dirty="0">
                <a:solidFill>
                  <a:srgbClr val="3A7BD5"/>
                </a:solidFill>
              </a:rPr>
              <a:t>Regulatory logic embedded</a:t>
            </a:r>
            <a:r>
              <a:rPr lang="en-US" sz="1150" dirty="0">
                <a:solidFill>
                  <a:srgbClr val="1A1A2E"/>
                </a:solidFill>
              </a:rPr>
              <a:t> — AU, GDPR, CCPA, APPI rules in each layer</a:t>
            </a:r>
            <a:endParaRPr lang="en-US" sz="1150" dirty="0"/>
          </a:p>
        </p:txBody>
      </p:sp>
      <p:sp>
        <p:nvSpPr>
          <p:cNvPr id="34" name="Shape 32"/>
          <p:cNvSpPr/>
          <p:nvPr/>
        </p:nvSpPr>
        <p:spPr>
          <a:xfrm>
            <a:off x="4700016" y="307238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35" name="Text 33"/>
          <p:cNvSpPr/>
          <p:nvPr/>
        </p:nvSpPr>
        <p:spPr>
          <a:xfrm>
            <a:off x="4809744" y="3072384"/>
            <a:ext cx="3840480" cy="320040"/>
          </a:xfrm>
          <a:prstGeom prst="rect">
            <a:avLst/>
          </a:prstGeom>
          <a:noFill/>
          <a:ln/>
        </p:spPr>
        <p:txBody>
          <a:bodyPr wrap="square" rtlCol="0" anchor="ctr"/>
          <a:lstStyle/>
          <a:p>
            <a:pPr marL="0" indent="0">
              <a:buNone/>
            </a:pPr>
            <a:r>
              <a:rPr lang="en-US" sz="1150" b="1" dirty="0">
                <a:solidFill>
                  <a:srgbClr val="3A7BD5"/>
                </a:solidFill>
              </a:rPr>
              <a:t>Documentation by AI</a:t>
            </a:r>
            <a:r>
              <a:rPr lang="en-US" sz="1150" dirty="0">
                <a:solidFill>
                  <a:srgbClr val="1A1A2E"/>
                </a:solidFill>
              </a:rPr>
              <a:t> — README, agent prompts, data dictionaries</a:t>
            </a:r>
            <a:endParaRPr lang="en-US" sz="1150" dirty="0"/>
          </a:p>
        </p:txBody>
      </p:sp>
      <p:sp>
        <p:nvSpPr>
          <p:cNvPr id="36" name="Shape 34"/>
          <p:cNvSpPr/>
          <p:nvPr/>
        </p:nvSpPr>
        <p:spPr>
          <a:xfrm>
            <a:off x="4700016" y="343814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37" name="Text 35"/>
          <p:cNvSpPr/>
          <p:nvPr/>
        </p:nvSpPr>
        <p:spPr>
          <a:xfrm>
            <a:off x="4809744" y="3438144"/>
            <a:ext cx="3840480" cy="320040"/>
          </a:xfrm>
          <a:prstGeom prst="rect">
            <a:avLst/>
          </a:prstGeom>
          <a:noFill/>
          <a:ln/>
        </p:spPr>
        <p:txBody>
          <a:bodyPr wrap="square" rtlCol="0" anchor="ctr"/>
          <a:lstStyle/>
          <a:p>
            <a:pPr marL="0" indent="0">
              <a:buNone/>
            </a:pPr>
            <a:r>
              <a:rPr lang="en-US" sz="1150" b="1" dirty="0">
                <a:solidFill>
                  <a:srgbClr val="3A7BD5"/>
                </a:solidFill>
              </a:rPr>
              <a:t>Published on GitHub</a:t>
            </a:r>
            <a:r>
              <a:rPr lang="en-US" sz="1150" dirty="0">
                <a:solidFill>
                  <a:srgbClr val="1A1A2E"/>
                </a:solidFill>
              </a:rPr>
              <a:t> — open, explorable, shareable instantly</a:t>
            </a:r>
            <a:endParaRPr lang="en-US" sz="1150" dirty="0"/>
          </a:p>
        </p:txBody>
      </p:sp>
      <p:sp>
        <p:nvSpPr>
          <p:cNvPr id="38" name="Shape 36"/>
          <p:cNvSpPr/>
          <p:nvPr/>
        </p:nvSpPr>
        <p:spPr>
          <a:xfrm>
            <a:off x="4700016" y="380390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39" name="Text 37"/>
          <p:cNvSpPr/>
          <p:nvPr/>
        </p:nvSpPr>
        <p:spPr>
          <a:xfrm>
            <a:off x="4809744" y="3803904"/>
            <a:ext cx="3840480" cy="320040"/>
          </a:xfrm>
          <a:prstGeom prst="rect">
            <a:avLst/>
          </a:prstGeom>
          <a:noFill/>
          <a:ln/>
        </p:spPr>
        <p:txBody>
          <a:bodyPr wrap="square" rtlCol="0" anchor="ctr"/>
          <a:lstStyle/>
          <a:p>
            <a:pPr marL="0" indent="0">
              <a:buNone/>
            </a:pPr>
            <a:r>
              <a:rPr lang="en-US" sz="1150" b="1" dirty="0">
                <a:solidFill>
                  <a:srgbClr val="3A7BD5"/>
                </a:solidFill>
              </a:rPr>
              <a:t>Total time:</a:t>
            </a:r>
            <a:r>
              <a:rPr lang="en-US" sz="1150" dirty="0">
                <a:solidFill>
                  <a:srgbClr val="1A1A2E"/>
                </a:solidFill>
              </a:rPr>
              <a:t> weeks, not months</a:t>
            </a:r>
            <a:endParaRPr lang="en-US" sz="1150" dirty="0"/>
          </a:p>
        </p:txBody>
      </p:sp>
      <p:sp>
        <p:nvSpPr>
          <p:cNvPr id="40" name="Shape 38"/>
          <p:cNvSpPr/>
          <p:nvPr/>
        </p:nvSpPr>
        <p:spPr>
          <a:xfrm>
            <a:off x="4700016" y="4169664"/>
            <a:ext cx="4059936" cy="320040"/>
          </a:xfrm>
          <a:prstGeom prst="roundRect">
            <a:avLst>
              <a:gd name="adj" fmla="val 11429"/>
            </a:avLst>
          </a:prstGeom>
          <a:solidFill>
            <a:srgbClr val="FFFFFF"/>
          </a:solidFill>
          <a:ln w="12700">
            <a:solidFill>
              <a:srgbClr val="D0DCF5"/>
            </a:solidFill>
            <a:prstDash val="solid"/>
          </a:ln>
        </p:spPr>
        <p:txBody>
          <a:bodyPr/>
          <a:lstStyle/>
          <a:p>
            <a:endParaRPr lang="en-AU"/>
          </a:p>
        </p:txBody>
      </p:sp>
      <p:sp>
        <p:nvSpPr>
          <p:cNvPr id="41" name="Text 39"/>
          <p:cNvSpPr/>
          <p:nvPr/>
        </p:nvSpPr>
        <p:spPr>
          <a:xfrm>
            <a:off x="4809744" y="4169664"/>
            <a:ext cx="3840480" cy="320040"/>
          </a:xfrm>
          <a:prstGeom prst="rect">
            <a:avLst/>
          </a:prstGeom>
          <a:noFill/>
          <a:ln/>
        </p:spPr>
        <p:txBody>
          <a:bodyPr wrap="square" rtlCol="0" anchor="ctr"/>
          <a:lstStyle/>
          <a:p>
            <a:pPr marL="0" indent="0">
              <a:buNone/>
            </a:pPr>
            <a:r>
              <a:rPr lang="en-US" sz="1150" b="1" dirty="0">
                <a:solidFill>
                  <a:srgbClr val="3A7BD5"/>
                </a:solidFill>
              </a:rPr>
              <a:t>Cost:</a:t>
            </a:r>
            <a:r>
              <a:rPr lang="en-US" sz="1150" dirty="0">
                <a:solidFill>
                  <a:srgbClr val="1A1A2E"/>
                </a:solidFill>
              </a:rPr>
              <a:t> a fraction of any enterprise licence</a:t>
            </a:r>
            <a:endParaRPr lang="en-US" sz="1150" dirty="0"/>
          </a:p>
        </p:txBody>
      </p:sp>
      <p:sp>
        <p:nvSpPr>
          <p:cNvPr id="42" name="Text 40"/>
          <p:cNvSpPr/>
          <p:nvPr/>
        </p:nvSpPr>
        <p:spPr>
          <a:xfrm>
            <a:off x="256032" y="4681728"/>
            <a:ext cx="8229600" cy="164592"/>
          </a:xfrm>
          <a:prstGeom prst="rect">
            <a:avLst/>
          </a:prstGeom>
          <a:noFill/>
          <a:ln/>
        </p:spPr>
        <p:txBody>
          <a:bodyPr wrap="square" rtlCol="0" anchor="ctr"/>
          <a:lstStyle/>
          <a:p>
            <a:pPr marL="0" indent="0">
              <a:buNone/>
            </a:pPr>
            <a:r>
              <a:rPr lang="en-US" sz="850" i="1" dirty="0">
                <a:solidFill>
                  <a:srgbClr val="64748B"/>
                </a:solidFill>
              </a:rPr>
              <a:t>* Tom Wallace: fictional data subject used for platform demonstration purposes</a:t>
            </a:r>
            <a:endParaRPr lang="en-US" sz="850" dirty="0"/>
          </a:p>
        </p:txBody>
      </p:sp>
      <p:sp>
        <p:nvSpPr>
          <p:cNvPr id="43" name="Text 41"/>
          <p:cNvSpPr/>
          <p:nvPr/>
        </p:nvSpPr>
        <p:spPr>
          <a:xfrm>
            <a:off x="365760" y="4754880"/>
            <a:ext cx="8046720" cy="274320"/>
          </a:xfrm>
          <a:prstGeom prst="rect">
            <a:avLst/>
          </a:prstGeom>
          <a:noFill/>
          <a:ln/>
        </p:spPr>
        <p:txBody>
          <a:bodyPr wrap="square" rtlCol="0" anchor="ctr"/>
          <a:lstStyle/>
          <a:p>
            <a:pPr marL="0" indent="0" algn="l">
              <a:buNone/>
            </a:pPr>
            <a:r>
              <a:rPr lang="en-US" sz="1100" i="1" dirty="0">
                <a:solidFill>
                  <a:srgbClr val="F59E0B"/>
                </a:solidFill>
              </a:rPr>
              <a:t>This platform was built faster than most organisations can write an RFP. That is not a footnote. That is the point.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4D"/>
        </a:solidFill>
        <a:effectLst/>
      </p:bgPr>
    </p:bg>
    <p:spTree>
      <p:nvGrpSpPr>
        <p:cNvPr id="1" name=""/>
        <p:cNvGrpSpPr/>
        <p:nvPr/>
      </p:nvGrpSpPr>
      <p:grpSpPr>
        <a:xfrm>
          <a:off x="0" y="0"/>
          <a:ext cx="0" cy="0"/>
          <a:chOff x="0" y="0"/>
          <a:chExt cx="0" cy="0"/>
        </a:xfrm>
      </p:grpSpPr>
      <p:sp>
        <p:nvSpPr>
          <p:cNvPr id="2" name="Text 0"/>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CADCFC"/>
                </a:solidFill>
              </a:rPr>
              <a:t>6</a:t>
            </a:r>
            <a:endParaRPr lang="en-US" sz="900" dirty="0"/>
          </a:p>
        </p:txBody>
      </p:sp>
      <p:sp>
        <p:nvSpPr>
          <p:cNvPr id="3" name="Text 1"/>
          <p:cNvSpPr/>
          <p:nvPr/>
        </p:nvSpPr>
        <p:spPr>
          <a:xfrm>
            <a:off x="548640" y="274320"/>
            <a:ext cx="4937760" cy="365760"/>
          </a:xfrm>
          <a:prstGeom prst="rect">
            <a:avLst/>
          </a:prstGeom>
          <a:noFill/>
          <a:ln/>
        </p:spPr>
        <p:txBody>
          <a:bodyPr wrap="square" rtlCol="0" anchor="ctr"/>
          <a:lstStyle/>
          <a:p>
            <a:pPr marL="0" indent="0" algn="l">
              <a:buNone/>
            </a:pPr>
            <a:r>
              <a:rPr lang="en-US" sz="1100" b="1" kern="0" spc="300" dirty="0">
                <a:solidFill>
                  <a:srgbClr val="CADCFC"/>
                </a:solidFill>
              </a:rPr>
              <a:t>LIVE DEMO</a:t>
            </a:r>
            <a:endParaRPr lang="en-US" sz="1100" dirty="0"/>
          </a:p>
        </p:txBody>
      </p:sp>
      <p:sp>
        <p:nvSpPr>
          <p:cNvPr id="4" name="Text 2"/>
          <p:cNvSpPr/>
          <p:nvPr/>
        </p:nvSpPr>
        <p:spPr>
          <a:xfrm>
            <a:off x="548640" y="621792"/>
            <a:ext cx="4937760" cy="585216"/>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See every layer in action</a:t>
            </a:r>
            <a:endParaRPr lang="en-US" sz="2800" dirty="0"/>
          </a:p>
        </p:txBody>
      </p:sp>
      <p:sp>
        <p:nvSpPr>
          <p:cNvPr id="5" name="Text 3"/>
          <p:cNvSpPr/>
          <p:nvPr/>
        </p:nvSpPr>
        <p:spPr>
          <a:xfrm>
            <a:off x="548640" y="1280160"/>
            <a:ext cx="4937760" cy="822960"/>
          </a:xfrm>
          <a:prstGeom prst="rect">
            <a:avLst/>
          </a:prstGeom>
          <a:noFill/>
          <a:ln/>
        </p:spPr>
        <p:txBody>
          <a:bodyPr wrap="square" rtlCol="0" anchor="t"/>
          <a:lstStyle/>
          <a:p>
            <a:pPr marL="0" indent="0" algn="l">
              <a:buNone/>
            </a:pPr>
            <a:r>
              <a:rPr lang="en-US" sz="1200" dirty="0">
                <a:solidFill>
                  <a:srgbClr val="CADCFC"/>
                </a:solidFill>
              </a:rPr>
              <a:t>11 foundational working layers. Switch between Executive view (plain English) and Technical run (animated AI agent). Follow Tom Wallace's* case across every layer, or explore any module independently.</a:t>
            </a:r>
            <a:endParaRPr lang="en-US" sz="1200" dirty="0"/>
          </a:p>
        </p:txBody>
      </p:sp>
      <p:sp>
        <p:nvSpPr>
          <p:cNvPr id="6" name="Shape 4"/>
          <p:cNvSpPr/>
          <p:nvPr/>
        </p:nvSpPr>
        <p:spPr>
          <a:xfrm>
            <a:off x="548640" y="2212848"/>
            <a:ext cx="5193792" cy="694944"/>
          </a:xfrm>
          <a:prstGeom prst="roundRect">
            <a:avLst>
              <a:gd name="adj" fmla="val 13158"/>
            </a:avLst>
          </a:prstGeom>
          <a:solidFill>
            <a:srgbClr val="3A7BD5"/>
          </a:solidFill>
          <a:ln w="12700">
            <a:solidFill>
              <a:srgbClr val="3A7BD5"/>
            </a:solidFill>
            <a:prstDash val="solid"/>
          </a:ln>
        </p:spPr>
        <p:txBody>
          <a:bodyPr/>
          <a:lstStyle/>
          <a:p>
            <a:endParaRPr lang="en-AU"/>
          </a:p>
        </p:txBody>
      </p:sp>
      <p:sp>
        <p:nvSpPr>
          <p:cNvPr id="7" name="Text 5"/>
          <p:cNvSpPr/>
          <p:nvPr/>
        </p:nvSpPr>
        <p:spPr>
          <a:xfrm>
            <a:off x="548640" y="2212848"/>
            <a:ext cx="5193792" cy="694944"/>
          </a:xfrm>
          <a:prstGeom prst="rect">
            <a:avLst/>
          </a:prstGeom>
          <a:noFill/>
          <a:ln/>
        </p:spPr>
        <p:txBody>
          <a:bodyPr wrap="square" lIns="0" tIns="0" rIns="0" bIns="0" rtlCol="0" anchor="ctr"/>
          <a:lstStyle/>
          <a:p>
            <a:pPr marL="0" indent="0" algn="ctr">
              <a:buNone/>
            </a:pPr>
            <a:r>
              <a:rPr lang="en-US" sz="1200" b="1" dirty="0">
                <a:solidFill>
                  <a:srgbClr val="FFFFFF"/>
                </a:solidFill>
              </a:rPr>
              <a:t>abhishekgovernance.github.io/</a:t>
            </a:r>
            <a:endParaRPr lang="en-US" sz="1200" dirty="0"/>
          </a:p>
          <a:p>
            <a:pPr marL="0" indent="0" algn="ctr">
              <a:buNone/>
            </a:pPr>
            <a:r>
              <a:rPr lang="en-US" sz="1200" b="1" dirty="0">
                <a:solidFill>
                  <a:srgbClr val="FFFFFF"/>
                </a:solidFill>
              </a:rPr>
              <a:t>Ai-Agent-Data-Privacy-Execution/</a:t>
            </a:r>
            <a:endParaRPr lang="en-US" sz="1200" dirty="0"/>
          </a:p>
        </p:txBody>
      </p:sp>
      <p:sp>
        <p:nvSpPr>
          <p:cNvPr id="8" name="Shape 6"/>
          <p:cNvSpPr/>
          <p:nvPr/>
        </p:nvSpPr>
        <p:spPr>
          <a:xfrm>
            <a:off x="548640" y="299923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9" name="Text 7"/>
          <p:cNvSpPr/>
          <p:nvPr/>
        </p:nvSpPr>
        <p:spPr>
          <a:xfrm>
            <a:off x="621792" y="2999232"/>
            <a:ext cx="2304288" cy="265176"/>
          </a:xfrm>
          <a:prstGeom prst="rect">
            <a:avLst/>
          </a:prstGeom>
          <a:noFill/>
          <a:ln/>
        </p:spPr>
        <p:txBody>
          <a:bodyPr wrap="square" rtlCol="0" anchor="ctr"/>
          <a:lstStyle/>
          <a:p>
            <a:pPr marL="0" indent="0">
              <a:buNone/>
            </a:pPr>
            <a:r>
              <a:rPr lang="en-US" sz="950" dirty="0">
                <a:solidFill>
                  <a:srgbClr val="FFFFFF"/>
                </a:solidFill>
              </a:rPr>
              <a:t>L1  Data Discovery</a:t>
            </a:r>
            <a:endParaRPr lang="en-US" sz="950" dirty="0"/>
          </a:p>
        </p:txBody>
      </p:sp>
      <p:sp>
        <p:nvSpPr>
          <p:cNvPr id="10" name="Shape 8"/>
          <p:cNvSpPr/>
          <p:nvPr/>
        </p:nvSpPr>
        <p:spPr>
          <a:xfrm>
            <a:off x="3200400" y="299923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11" name="Text 9"/>
          <p:cNvSpPr/>
          <p:nvPr/>
        </p:nvSpPr>
        <p:spPr>
          <a:xfrm>
            <a:off x="3273552" y="2999232"/>
            <a:ext cx="2304288" cy="265176"/>
          </a:xfrm>
          <a:prstGeom prst="rect">
            <a:avLst/>
          </a:prstGeom>
          <a:noFill/>
          <a:ln/>
        </p:spPr>
        <p:txBody>
          <a:bodyPr wrap="square" rtlCol="0" anchor="ctr"/>
          <a:lstStyle/>
          <a:p>
            <a:pPr marL="0" indent="0">
              <a:buNone/>
            </a:pPr>
            <a:r>
              <a:rPr lang="en-US" sz="950" dirty="0">
                <a:solidFill>
                  <a:srgbClr val="FFFFFF"/>
                </a:solidFill>
              </a:rPr>
              <a:t>L2  Classification</a:t>
            </a:r>
            <a:endParaRPr lang="en-US" sz="950" dirty="0"/>
          </a:p>
        </p:txBody>
      </p:sp>
      <p:sp>
        <p:nvSpPr>
          <p:cNvPr id="12" name="Shape 10"/>
          <p:cNvSpPr/>
          <p:nvPr/>
        </p:nvSpPr>
        <p:spPr>
          <a:xfrm>
            <a:off x="548640" y="331927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13" name="Text 11"/>
          <p:cNvSpPr/>
          <p:nvPr/>
        </p:nvSpPr>
        <p:spPr>
          <a:xfrm>
            <a:off x="621792" y="3319272"/>
            <a:ext cx="2304288" cy="265176"/>
          </a:xfrm>
          <a:prstGeom prst="rect">
            <a:avLst/>
          </a:prstGeom>
          <a:noFill/>
          <a:ln/>
        </p:spPr>
        <p:txBody>
          <a:bodyPr wrap="square" rtlCol="0" anchor="ctr"/>
          <a:lstStyle/>
          <a:p>
            <a:pPr marL="0" indent="0">
              <a:buNone/>
            </a:pPr>
            <a:r>
              <a:rPr lang="en-US" sz="950" dirty="0">
                <a:solidFill>
                  <a:srgbClr val="FFFFFF"/>
                </a:solidFill>
              </a:rPr>
              <a:t>L3  Consent Mgmt</a:t>
            </a:r>
            <a:endParaRPr lang="en-US" sz="950" dirty="0"/>
          </a:p>
        </p:txBody>
      </p:sp>
      <p:sp>
        <p:nvSpPr>
          <p:cNvPr id="14" name="Shape 12"/>
          <p:cNvSpPr/>
          <p:nvPr/>
        </p:nvSpPr>
        <p:spPr>
          <a:xfrm>
            <a:off x="3200400" y="331927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15" name="Text 13"/>
          <p:cNvSpPr/>
          <p:nvPr/>
        </p:nvSpPr>
        <p:spPr>
          <a:xfrm>
            <a:off x="3273552" y="3319272"/>
            <a:ext cx="2304288" cy="265176"/>
          </a:xfrm>
          <a:prstGeom prst="rect">
            <a:avLst/>
          </a:prstGeom>
          <a:noFill/>
          <a:ln/>
        </p:spPr>
        <p:txBody>
          <a:bodyPr wrap="square" rtlCol="0" anchor="ctr"/>
          <a:lstStyle/>
          <a:p>
            <a:pPr marL="0" indent="0">
              <a:buNone/>
            </a:pPr>
            <a:r>
              <a:rPr lang="en-US" sz="950" dirty="0">
                <a:solidFill>
                  <a:srgbClr val="FFFFFF"/>
                </a:solidFill>
              </a:rPr>
              <a:t>L4  Cookie &amp; Tracking</a:t>
            </a:r>
            <a:endParaRPr lang="en-US" sz="950" dirty="0"/>
          </a:p>
        </p:txBody>
      </p:sp>
      <p:sp>
        <p:nvSpPr>
          <p:cNvPr id="16" name="Shape 14"/>
          <p:cNvSpPr/>
          <p:nvPr/>
        </p:nvSpPr>
        <p:spPr>
          <a:xfrm>
            <a:off x="548640" y="363931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17" name="Text 15"/>
          <p:cNvSpPr/>
          <p:nvPr/>
        </p:nvSpPr>
        <p:spPr>
          <a:xfrm>
            <a:off x="621792" y="3639312"/>
            <a:ext cx="2304288" cy="265176"/>
          </a:xfrm>
          <a:prstGeom prst="rect">
            <a:avLst/>
          </a:prstGeom>
          <a:noFill/>
          <a:ln/>
        </p:spPr>
        <p:txBody>
          <a:bodyPr wrap="square" rtlCol="0" anchor="ctr"/>
          <a:lstStyle/>
          <a:p>
            <a:pPr marL="0" indent="0">
              <a:buNone/>
            </a:pPr>
            <a:r>
              <a:rPr lang="en-US" sz="950" dirty="0">
                <a:solidFill>
                  <a:srgbClr val="FFFFFF"/>
                </a:solidFill>
              </a:rPr>
              <a:t>L5  Privacy Notice</a:t>
            </a:r>
            <a:endParaRPr lang="en-US" sz="950" dirty="0"/>
          </a:p>
        </p:txBody>
      </p:sp>
      <p:sp>
        <p:nvSpPr>
          <p:cNvPr id="18" name="Shape 16"/>
          <p:cNvSpPr/>
          <p:nvPr/>
        </p:nvSpPr>
        <p:spPr>
          <a:xfrm>
            <a:off x="3200400" y="363931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19" name="Text 17"/>
          <p:cNvSpPr/>
          <p:nvPr/>
        </p:nvSpPr>
        <p:spPr>
          <a:xfrm>
            <a:off x="3273552" y="3639312"/>
            <a:ext cx="2304288" cy="265176"/>
          </a:xfrm>
          <a:prstGeom prst="rect">
            <a:avLst/>
          </a:prstGeom>
          <a:noFill/>
          <a:ln/>
        </p:spPr>
        <p:txBody>
          <a:bodyPr wrap="square" rtlCol="0" anchor="ctr"/>
          <a:lstStyle/>
          <a:p>
            <a:pPr marL="0" indent="0">
              <a:buNone/>
            </a:pPr>
            <a:r>
              <a:rPr lang="en-US" sz="950" dirty="0">
                <a:solidFill>
                  <a:srgbClr val="FFFFFF"/>
                </a:solidFill>
              </a:rPr>
              <a:t>L6  DSR Management</a:t>
            </a:r>
            <a:endParaRPr lang="en-US" sz="950" dirty="0"/>
          </a:p>
        </p:txBody>
      </p:sp>
      <p:sp>
        <p:nvSpPr>
          <p:cNvPr id="20" name="Shape 18"/>
          <p:cNvSpPr/>
          <p:nvPr/>
        </p:nvSpPr>
        <p:spPr>
          <a:xfrm>
            <a:off x="548640" y="395935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21" name="Text 19"/>
          <p:cNvSpPr/>
          <p:nvPr/>
        </p:nvSpPr>
        <p:spPr>
          <a:xfrm>
            <a:off x="621792" y="3959352"/>
            <a:ext cx="2304288" cy="265176"/>
          </a:xfrm>
          <a:prstGeom prst="rect">
            <a:avLst/>
          </a:prstGeom>
          <a:noFill/>
          <a:ln/>
        </p:spPr>
        <p:txBody>
          <a:bodyPr wrap="square" rtlCol="0" anchor="ctr"/>
          <a:lstStyle/>
          <a:p>
            <a:pPr marL="0" indent="0">
              <a:buNone/>
            </a:pPr>
            <a:r>
              <a:rPr lang="en-US" sz="950" dirty="0">
                <a:solidFill>
                  <a:srgbClr val="FFFFFF"/>
                </a:solidFill>
              </a:rPr>
              <a:t>L7  Retention</a:t>
            </a:r>
            <a:endParaRPr lang="en-US" sz="950" dirty="0"/>
          </a:p>
        </p:txBody>
      </p:sp>
      <p:sp>
        <p:nvSpPr>
          <p:cNvPr id="22" name="Shape 20"/>
          <p:cNvSpPr/>
          <p:nvPr/>
        </p:nvSpPr>
        <p:spPr>
          <a:xfrm>
            <a:off x="3200400" y="395935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23" name="Text 21"/>
          <p:cNvSpPr/>
          <p:nvPr/>
        </p:nvSpPr>
        <p:spPr>
          <a:xfrm>
            <a:off x="3273552" y="3959352"/>
            <a:ext cx="2304288" cy="265176"/>
          </a:xfrm>
          <a:prstGeom prst="rect">
            <a:avLst/>
          </a:prstGeom>
          <a:noFill/>
          <a:ln/>
        </p:spPr>
        <p:txBody>
          <a:bodyPr wrap="square" rtlCol="0" anchor="ctr"/>
          <a:lstStyle/>
          <a:p>
            <a:pPr marL="0" indent="0">
              <a:buNone/>
            </a:pPr>
            <a:r>
              <a:rPr lang="en-US" sz="950" dirty="0">
                <a:solidFill>
                  <a:srgbClr val="FFFFFF"/>
                </a:solidFill>
              </a:rPr>
              <a:t>L8  Risk &amp; Compliance</a:t>
            </a:r>
            <a:endParaRPr lang="en-US" sz="950" dirty="0"/>
          </a:p>
        </p:txBody>
      </p:sp>
      <p:sp>
        <p:nvSpPr>
          <p:cNvPr id="24" name="Shape 22"/>
          <p:cNvSpPr/>
          <p:nvPr/>
        </p:nvSpPr>
        <p:spPr>
          <a:xfrm>
            <a:off x="548640" y="427939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25" name="Text 23"/>
          <p:cNvSpPr/>
          <p:nvPr/>
        </p:nvSpPr>
        <p:spPr>
          <a:xfrm>
            <a:off x="621792" y="4279392"/>
            <a:ext cx="2304288" cy="265176"/>
          </a:xfrm>
          <a:prstGeom prst="rect">
            <a:avLst/>
          </a:prstGeom>
          <a:noFill/>
          <a:ln/>
        </p:spPr>
        <p:txBody>
          <a:bodyPr wrap="square" rtlCol="0" anchor="ctr"/>
          <a:lstStyle/>
          <a:p>
            <a:pPr marL="0" indent="0">
              <a:buNone/>
            </a:pPr>
            <a:r>
              <a:rPr lang="en-US" sz="950" dirty="0">
                <a:solidFill>
                  <a:srgbClr val="FFFFFF"/>
                </a:solidFill>
              </a:rPr>
              <a:t>L9  Breach Response</a:t>
            </a:r>
            <a:endParaRPr lang="en-US" sz="950" dirty="0"/>
          </a:p>
        </p:txBody>
      </p:sp>
      <p:sp>
        <p:nvSpPr>
          <p:cNvPr id="26" name="Shape 24"/>
          <p:cNvSpPr/>
          <p:nvPr/>
        </p:nvSpPr>
        <p:spPr>
          <a:xfrm>
            <a:off x="3200400" y="427939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27" name="Text 25"/>
          <p:cNvSpPr/>
          <p:nvPr/>
        </p:nvSpPr>
        <p:spPr>
          <a:xfrm>
            <a:off x="3273552" y="4279392"/>
            <a:ext cx="2304288" cy="265176"/>
          </a:xfrm>
          <a:prstGeom prst="rect">
            <a:avLst/>
          </a:prstGeom>
          <a:noFill/>
          <a:ln/>
        </p:spPr>
        <p:txBody>
          <a:bodyPr wrap="square" rtlCol="0" anchor="ctr"/>
          <a:lstStyle/>
          <a:p>
            <a:pPr marL="0" indent="0">
              <a:buNone/>
            </a:pPr>
            <a:r>
              <a:rPr lang="en-US" sz="950" dirty="0">
                <a:solidFill>
                  <a:srgbClr val="FFFFFF"/>
                </a:solidFill>
              </a:rPr>
              <a:t>L10 Assessments</a:t>
            </a:r>
            <a:endParaRPr lang="en-US" sz="950" dirty="0"/>
          </a:p>
        </p:txBody>
      </p:sp>
      <p:sp>
        <p:nvSpPr>
          <p:cNvPr id="28" name="Shape 26"/>
          <p:cNvSpPr/>
          <p:nvPr/>
        </p:nvSpPr>
        <p:spPr>
          <a:xfrm>
            <a:off x="1874520" y="4599432"/>
            <a:ext cx="2450592" cy="265176"/>
          </a:xfrm>
          <a:prstGeom prst="roundRect">
            <a:avLst>
              <a:gd name="adj" fmla="val 13793"/>
            </a:avLst>
          </a:prstGeom>
          <a:solidFill>
            <a:srgbClr val="1E2761">
              <a:alpha val="55000"/>
            </a:srgbClr>
          </a:solidFill>
          <a:ln w="12700">
            <a:solidFill>
              <a:srgbClr val="3A7BD5"/>
            </a:solidFill>
            <a:prstDash val="solid"/>
          </a:ln>
        </p:spPr>
        <p:txBody>
          <a:bodyPr/>
          <a:lstStyle/>
          <a:p>
            <a:endParaRPr lang="en-AU"/>
          </a:p>
        </p:txBody>
      </p:sp>
      <p:sp>
        <p:nvSpPr>
          <p:cNvPr id="29" name="Text 27"/>
          <p:cNvSpPr/>
          <p:nvPr/>
        </p:nvSpPr>
        <p:spPr>
          <a:xfrm>
            <a:off x="1947672" y="4599432"/>
            <a:ext cx="2304288" cy="265176"/>
          </a:xfrm>
          <a:prstGeom prst="rect">
            <a:avLst/>
          </a:prstGeom>
          <a:noFill/>
          <a:ln/>
        </p:spPr>
        <p:txBody>
          <a:bodyPr wrap="square" rtlCol="0" anchor="ctr"/>
          <a:lstStyle/>
          <a:p>
            <a:pPr marL="0" indent="0">
              <a:buNone/>
            </a:pPr>
            <a:r>
              <a:rPr lang="en-US" sz="950" b="1" dirty="0">
                <a:solidFill>
                  <a:srgbClr val="FFFFFF"/>
                </a:solidFill>
              </a:rPr>
              <a:t>L11 Governance (start here)</a:t>
            </a:r>
            <a:endParaRPr lang="en-US" sz="950" dirty="0"/>
          </a:p>
        </p:txBody>
      </p:sp>
      <p:sp>
        <p:nvSpPr>
          <p:cNvPr id="30" name="Text 28"/>
          <p:cNvSpPr/>
          <p:nvPr/>
        </p:nvSpPr>
        <p:spPr>
          <a:xfrm>
            <a:off x="484632" y="4846320"/>
            <a:ext cx="5029200" cy="182880"/>
          </a:xfrm>
          <a:prstGeom prst="rect">
            <a:avLst/>
          </a:prstGeom>
          <a:noFill/>
          <a:ln/>
        </p:spPr>
        <p:txBody>
          <a:bodyPr wrap="square" rtlCol="0" anchor="ctr"/>
          <a:lstStyle/>
          <a:p>
            <a:pPr marL="0" indent="0">
              <a:buNone/>
            </a:pPr>
            <a:r>
              <a:rPr lang="en-US" sz="850" i="1" dirty="0">
                <a:solidFill>
                  <a:srgbClr val="7B9ED9"/>
                </a:solidFill>
              </a:rPr>
              <a:t>* Tom Wallace: fictional data subject</a:t>
            </a:r>
            <a:endParaRPr lang="en-US" sz="850" dirty="0"/>
          </a:p>
        </p:txBody>
      </p:sp>
      <p:sp>
        <p:nvSpPr>
          <p:cNvPr id="31" name="Shape 29"/>
          <p:cNvSpPr/>
          <p:nvPr/>
        </p:nvSpPr>
        <p:spPr>
          <a:xfrm>
            <a:off x="6016752" y="640080"/>
            <a:ext cx="2834640" cy="4297680"/>
          </a:xfrm>
          <a:prstGeom prst="roundRect">
            <a:avLst>
              <a:gd name="adj" fmla="val 5161"/>
            </a:avLst>
          </a:prstGeom>
          <a:solidFill>
            <a:srgbClr val="FFFFFF">
              <a:alpha val="94000"/>
            </a:srgbClr>
          </a:solidFill>
          <a:ln w="25400">
            <a:solidFill>
              <a:srgbClr val="3A7BD5"/>
            </a:solidFill>
            <a:prstDash val="solid"/>
          </a:ln>
        </p:spPr>
        <p:txBody>
          <a:bodyPr/>
          <a:lstStyle/>
          <a:p>
            <a:endParaRPr lang="en-AU"/>
          </a:p>
        </p:txBody>
      </p:sp>
      <p:sp>
        <p:nvSpPr>
          <p:cNvPr id="32" name="Text 30"/>
          <p:cNvSpPr/>
          <p:nvPr/>
        </p:nvSpPr>
        <p:spPr>
          <a:xfrm>
            <a:off x="6016752" y="731520"/>
            <a:ext cx="2834640" cy="329184"/>
          </a:xfrm>
          <a:prstGeom prst="rect">
            <a:avLst/>
          </a:prstGeom>
          <a:noFill/>
          <a:ln/>
        </p:spPr>
        <p:txBody>
          <a:bodyPr wrap="square" rtlCol="0" anchor="ctr"/>
          <a:lstStyle/>
          <a:p>
            <a:pPr marL="0" indent="0" algn="ctr">
              <a:buNone/>
            </a:pPr>
            <a:r>
              <a:rPr lang="en-US" sz="950" b="1" kern="0" spc="100" dirty="0">
                <a:solidFill>
                  <a:srgbClr val="CADCFC"/>
                </a:solidFill>
              </a:rPr>
              <a:t>SCAN TO EXPLORE LIVE</a:t>
            </a:r>
            <a:endParaRPr lang="en-US" sz="950" dirty="0"/>
          </a:p>
        </p:txBody>
      </p:sp>
      <p:pic>
        <p:nvPicPr>
          <p:cNvPr id="33" name="Image 0" descr="/sessions/clever-eloquent-tesla/mnt/outputs/qr_live.png"/>
          <p:cNvPicPr>
            <a:picLocks noChangeAspect="1"/>
          </p:cNvPicPr>
          <p:nvPr/>
        </p:nvPicPr>
        <p:blipFill>
          <a:blip r:embed="rId3"/>
          <a:stretch>
            <a:fillRect/>
          </a:stretch>
        </p:blipFill>
        <p:spPr>
          <a:xfrm>
            <a:off x="6473952" y="1115568"/>
            <a:ext cx="1901952" cy="1901952"/>
          </a:xfrm>
          <a:prstGeom prst="rect">
            <a:avLst/>
          </a:prstGeom>
        </p:spPr>
      </p:pic>
      <p:sp>
        <p:nvSpPr>
          <p:cNvPr id="34" name="Text 31"/>
          <p:cNvSpPr/>
          <p:nvPr/>
        </p:nvSpPr>
        <p:spPr>
          <a:xfrm>
            <a:off x="6016752" y="3090672"/>
            <a:ext cx="2834640" cy="274320"/>
          </a:xfrm>
          <a:prstGeom prst="rect">
            <a:avLst/>
          </a:prstGeom>
          <a:noFill/>
          <a:ln/>
        </p:spPr>
        <p:txBody>
          <a:bodyPr wrap="square" rtlCol="0" anchor="ctr"/>
          <a:lstStyle/>
          <a:p>
            <a:pPr marL="0" indent="0" algn="ctr">
              <a:buNone/>
            </a:pPr>
            <a:r>
              <a:rPr lang="en-US" sz="950" b="1" dirty="0">
                <a:solidFill>
                  <a:srgbClr val="6FA3E8"/>
                </a:solidFill>
              </a:rPr>
              <a:t>No login required  |  Works on mobile</a:t>
            </a:r>
            <a:endParaRPr lang="en-US" sz="950" dirty="0"/>
          </a:p>
        </p:txBody>
      </p:sp>
      <p:sp>
        <p:nvSpPr>
          <p:cNvPr id="35" name="Text 32"/>
          <p:cNvSpPr/>
          <p:nvPr/>
        </p:nvSpPr>
        <p:spPr>
          <a:xfrm>
            <a:off x="6053328" y="3438144"/>
            <a:ext cx="2761488" cy="658368"/>
          </a:xfrm>
          <a:prstGeom prst="rect">
            <a:avLst/>
          </a:prstGeom>
          <a:noFill/>
          <a:ln/>
        </p:spPr>
        <p:txBody>
          <a:bodyPr wrap="square" rtlCol="0" anchor="ctr"/>
          <a:lstStyle/>
          <a:p>
            <a:pPr marL="0" indent="0" algn="ctr">
              <a:buNone/>
            </a:pPr>
            <a:r>
              <a:rPr lang="en-US" sz="1000" i="1" dirty="0">
                <a:solidFill>
                  <a:srgbClr val="CADCFC"/>
                </a:solidFill>
              </a:rPr>
              <a:t>Start at Layer 11 if time is short.</a:t>
            </a:r>
            <a:endParaRPr lang="en-US" sz="1000" dirty="0"/>
          </a:p>
          <a:p>
            <a:pPr marL="0" indent="0" algn="ctr">
              <a:buNone/>
            </a:pPr>
            <a:r>
              <a:rPr lang="en-US" sz="1000" i="1" dirty="0">
                <a:solidFill>
                  <a:srgbClr val="CADCFC"/>
                </a:solidFill>
              </a:rPr>
              <a:t>The DPO governance queue shows</a:t>
            </a:r>
            <a:endParaRPr lang="en-US" sz="1000" dirty="0"/>
          </a:p>
          <a:p>
            <a:pPr marL="0" indent="0" algn="ctr">
              <a:buNone/>
            </a:pPr>
            <a:r>
              <a:rPr lang="en-US" sz="1000" i="1" dirty="0">
                <a:solidFill>
                  <a:srgbClr val="CADCFC"/>
                </a:solidFill>
              </a:rPr>
              <a:t>the whole governance model in 2 minutes.</a:t>
            </a:r>
            <a:endParaRPr lang="en-US" sz="1000" dirty="0"/>
          </a:p>
        </p:txBody>
      </p:sp>
      <p:sp>
        <p:nvSpPr>
          <p:cNvPr id="36" name="Text 33"/>
          <p:cNvSpPr/>
          <p:nvPr/>
        </p:nvSpPr>
        <p:spPr>
          <a:xfrm>
            <a:off x="6053328" y="4169664"/>
            <a:ext cx="2761488" cy="530352"/>
          </a:xfrm>
          <a:prstGeom prst="rect">
            <a:avLst/>
          </a:prstGeom>
          <a:noFill/>
          <a:ln/>
        </p:spPr>
        <p:txBody>
          <a:bodyPr wrap="square" rtlCol="0" anchor="ctr"/>
          <a:lstStyle/>
          <a:p>
            <a:pPr marL="0" indent="0" algn="ctr">
              <a:buNone/>
            </a:pPr>
            <a:r>
              <a:rPr lang="en-US" sz="800" dirty="0">
                <a:solidFill>
                  <a:srgbClr val="6FA3E8"/>
                </a:solidFill>
              </a:rPr>
              <a:t>abhishekgovernance.github.io/</a:t>
            </a:r>
            <a:endParaRPr lang="en-US" sz="800" dirty="0"/>
          </a:p>
          <a:p>
            <a:pPr marL="0" indent="0" algn="ctr">
              <a:buNone/>
            </a:pPr>
            <a:r>
              <a:rPr lang="en-US" sz="800" dirty="0">
                <a:solidFill>
                  <a:srgbClr val="6FA3E8"/>
                </a:solidFill>
              </a:rPr>
              <a:t>Ai-Agent-Data-Privacy-Execution/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THE IMPLICATIONS</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What This Means for Your Organisation</a:t>
            </a:r>
            <a:endParaRPr lang="en-US" sz="22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7</a:t>
            </a:r>
            <a:endParaRPr lang="en-US" sz="900" dirty="0"/>
          </a:p>
        </p:txBody>
      </p:sp>
      <p:sp>
        <p:nvSpPr>
          <p:cNvPr id="6" name="Shape 4"/>
          <p:cNvSpPr/>
          <p:nvPr/>
        </p:nvSpPr>
        <p:spPr>
          <a:xfrm>
            <a:off x="256032" y="1078992"/>
            <a:ext cx="4169664" cy="3621024"/>
          </a:xfrm>
          <a:prstGeom prst="roundRect">
            <a:avLst>
              <a:gd name="adj" fmla="val 4040"/>
            </a:avLst>
          </a:prstGeom>
          <a:solidFill>
            <a:srgbClr val="1E2761"/>
          </a:solidFill>
          <a:ln w="12700">
            <a:solidFill>
              <a:srgbClr val="1E2761"/>
            </a:solidFill>
            <a:prstDash val="solid"/>
          </a:ln>
          <a:effectLst>
            <a:outerShdw blurRad="76200" dist="25400" dir="2700000" algn="bl" rotWithShape="0">
              <a:srgbClr val="1E2761">
                <a:alpha val="8000"/>
              </a:srgbClr>
            </a:outerShdw>
          </a:effectLst>
        </p:spPr>
        <p:txBody>
          <a:bodyPr/>
          <a:lstStyle/>
          <a:p>
            <a:endParaRPr lang="en-AU"/>
          </a:p>
        </p:txBody>
      </p:sp>
      <p:sp>
        <p:nvSpPr>
          <p:cNvPr id="7" name="Shape 5"/>
          <p:cNvSpPr/>
          <p:nvPr/>
        </p:nvSpPr>
        <p:spPr>
          <a:xfrm>
            <a:off x="493776" y="1170432"/>
            <a:ext cx="3694176" cy="475488"/>
          </a:xfrm>
          <a:prstGeom prst="roundRect">
            <a:avLst>
              <a:gd name="adj" fmla="val 15385"/>
            </a:avLst>
          </a:prstGeom>
          <a:solidFill>
            <a:srgbClr val="3A7BD5"/>
          </a:solidFill>
          <a:ln w="12700">
            <a:solidFill>
              <a:srgbClr val="3A7BD5"/>
            </a:solidFill>
            <a:prstDash val="solid"/>
          </a:ln>
        </p:spPr>
        <p:txBody>
          <a:bodyPr/>
          <a:lstStyle/>
          <a:p>
            <a:endParaRPr lang="en-AU"/>
          </a:p>
        </p:txBody>
      </p:sp>
      <p:sp>
        <p:nvSpPr>
          <p:cNvPr id="8" name="Text 6"/>
          <p:cNvSpPr/>
          <p:nvPr/>
        </p:nvSpPr>
        <p:spPr>
          <a:xfrm>
            <a:off x="493776" y="1170432"/>
            <a:ext cx="3694176" cy="475488"/>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CDO / CTO</a:t>
            </a:r>
            <a:endParaRPr lang="en-US" sz="1700" dirty="0"/>
          </a:p>
        </p:txBody>
      </p:sp>
      <p:sp>
        <p:nvSpPr>
          <p:cNvPr id="9" name="Text 7"/>
          <p:cNvSpPr/>
          <p:nvPr/>
        </p:nvSpPr>
        <p:spPr>
          <a:xfrm>
            <a:off x="493776" y="1664208"/>
            <a:ext cx="3694176" cy="274320"/>
          </a:xfrm>
          <a:prstGeom prst="rect">
            <a:avLst/>
          </a:prstGeom>
          <a:noFill/>
          <a:ln/>
        </p:spPr>
        <p:txBody>
          <a:bodyPr wrap="square" rtlCol="0" anchor="ctr"/>
          <a:lstStyle/>
          <a:p>
            <a:pPr marL="0" indent="0" algn="ctr">
              <a:buNone/>
            </a:pPr>
            <a:r>
              <a:rPr lang="en-US" sz="1050" i="1" dirty="0">
                <a:solidFill>
                  <a:srgbClr val="CADCFC"/>
                </a:solidFill>
              </a:rPr>
              <a:t>Chief Data / Technology Officer</a:t>
            </a:r>
            <a:endParaRPr lang="en-US" sz="1050" dirty="0"/>
          </a:p>
        </p:txBody>
      </p:sp>
      <p:sp>
        <p:nvSpPr>
          <p:cNvPr id="10" name="Shape 8"/>
          <p:cNvSpPr/>
          <p:nvPr/>
        </p:nvSpPr>
        <p:spPr>
          <a:xfrm>
            <a:off x="402336" y="2011680"/>
            <a:ext cx="3895344" cy="420624"/>
          </a:xfrm>
          <a:prstGeom prst="roundRect">
            <a:avLst>
              <a:gd name="adj" fmla="val 13043"/>
            </a:avLst>
          </a:prstGeom>
          <a:solidFill>
            <a:srgbClr val="FFFFFF">
              <a:alpha val="12000"/>
            </a:srgbClr>
          </a:solidFill>
          <a:ln w="12700">
            <a:solidFill>
              <a:srgbClr val="6FA3E8"/>
            </a:solidFill>
            <a:prstDash val="solid"/>
          </a:ln>
        </p:spPr>
        <p:txBody>
          <a:bodyPr/>
          <a:lstStyle/>
          <a:p>
            <a:endParaRPr lang="en-AU"/>
          </a:p>
        </p:txBody>
      </p:sp>
      <p:sp>
        <p:nvSpPr>
          <p:cNvPr id="11" name="Text 9"/>
          <p:cNvSpPr/>
          <p:nvPr/>
        </p:nvSpPr>
        <p:spPr>
          <a:xfrm>
            <a:off x="512064" y="2011680"/>
            <a:ext cx="3694176" cy="420624"/>
          </a:xfrm>
          <a:prstGeom prst="rect">
            <a:avLst/>
          </a:prstGeom>
          <a:noFill/>
          <a:ln/>
        </p:spPr>
        <p:txBody>
          <a:bodyPr wrap="square" rtlCol="0" anchor="ctr"/>
          <a:lstStyle/>
          <a:p>
            <a:pPr marL="0" indent="0">
              <a:buNone/>
            </a:pPr>
            <a:r>
              <a:rPr lang="en-US" sz="1150" dirty="0">
                <a:solidFill>
                  <a:srgbClr val="FFFFFF"/>
                </a:solidFill>
              </a:rPr>
              <a:t>Build bespoke privacy tooling in weeks, not 18 months.</a:t>
            </a:r>
            <a:endParaRPr lang="en-US" sz="1150" dirty="0"/>
          </a:p>
        </p:txBody>
      </p:sp>
      <p:sp>
        <p:nvSpPr>
          <p:cNvPr id="12" name="Shape 10"/>
          <p:cNvSpPr/>
          <p:nvPr/>
        </p:nvSpPr>
        <p:spPr>
          <a:xfrm>
            <a:off x="402336" y="2505456"/>
            <a:ext cx="3895344" cy="420624"/>
          </a:xfrm>
          <a:prstGeom prst="roundRect">
            <a:avLst>
              <a:gd name="adj" fmla="val 13043"/>
            </a:avLst>
          </a:prstGeom>
          <a:solidFill>
            <a:srgbClr val="FFFFFF">
              <a:alpha val="12000"/>
            </a:srgbClr>
          </a:solidFill>
          <a:ln w="12700">
            <a:solidFill>
              <a:srgbClr val="6FA3E8"/>
            </a:solidFill>
            <a:prstDash val="solid"/>
          </a:ln>
        </p:spPr>
        <p:txBody>
          <a:bodyPr/>
          <a:lstStyle/>
          <a:p>
            <a:endParaRPr lang="en-AU"/>
          </a:p>
        </p:txBody>
      </p:sp>
      <p:sp>
        <p:nvSpPr>
          <p:cNvPr id="13" name="Text 11"/>
          <p:cNvSpPr/>
          <p:nvPr/>
        </p:nvSpPr>
        <p:spPr>
          <a:xfrm>
            <a:off x="512064" y="2505456"/>
            <a:ext cx="3694176" cy="420624"/>
          </a:xfrm>
          <a:prstGeom prst="rect">
            <a:avLst/>
          </a:prstGeom>
          <a:noFill/>
          <a:ln/>
        </p:spPr>
        <p:txBody>
          <a:bodyPr wrap="square" rtlCol="0" anchor="ctr"/>
          <a:lstStyle/>
          <a:p>
            <a:pPr marL="0" indent="0">
              <a:buNone/>
            </a:pPr>
            <a:r>
              <a:rPr lang="en-US" sz="1150" dirty="0">
                <a:solidFill>
                  <a:srgbClr val="FFFFFF"/>
                </a:solidFill>
              </a:rPr>
              <a:t>No $2M vendor licence. No 12-month implementation cycle.</a:t>
            </a:r>
            <a:endParaRPr lang="en-US" sz="1150" dirty="0"/>
          </a:p>
        </p:txBody>
      </p:sp>
      <p:sp>
        <p:nvSpPr>
          <p:cNvPr id="14" name="Shape 12"/>
          <p:cNvSpPr/>
          <p:nvPr/>
        </p:nvSpPr>
        <p:spPr>
          <a:xfrm>
            <a:off x="402336" y="2999232"/>
            <a:ext cx="3895344" cy="420624"/>
          </a:xfrm>
          <a:prstGeom prst="roundRect">
            <a:avLst>
              <a:gd name="adj" fmla="val 13043"/>
            </a:avLst>
          </a:prstGeom>
          <a:solidFill>
            <a:srgbClr val="FFFFFF">
              <a:alpha val="12000"/>
            </a:srgbClr>
          </a:solidFill>
          <a:ln w="12700">
            <a:solidFill>
              <a:srgbClr val="6FA3E8"/>
            </a:solidFill>
            <a:prstDash val="solid"/>
          </a:ln>
        </p:spPr>
        <p:txBody>
          <a:bodyPr/>
          <a:lstStyle/>
          <a:p>
            <a:endParaRPr lang="en-AU"/>
          </a:p>
        </p:txBody>
      </p:sp>
      <p:sp>
        <p:nvSpPr>
          <p:cNvPr id="15" name="Text 13"/>
          <p:cNvSpPr/>
          <p:nvPr/>
        </p:nvSpPr>
        <p:spPr>
          <a:xfrm>
            <a:off x="512064" y="2999232"/>
            <a:ext cx="3694176" cy="420624"/>
          </a:xfrm>
          <a:prstGeom prst="rect">
            <a:avLst/>
          </a:prstGeom>
          <a:noFill/>
          <a:ln/>
        </p:spPr>
        <p:txBody>
          <a:bodyPr wrap="square" rtlCol="0" anchor="ctr"/>
          <a:lstStyle/>
          <a:p>
            <a:pPr marL="0" indent="0">
              <a:buNone/>
            </a:pPr>
            <a:r>
              <a:rPr lang="en-US" sz="1150" dirty="0">
                <a:solidFill>
                  <a:srgbClr val="FFFFFF"/>
                </a:solidFill>
              </a:rPr>
              <a:t>AI generates the architecture AND the code — you direct the outcome.</a:t>
            </a:r>
            <a:endParaRPr lang="en-US" sz="1150" dirty="0"/>
          </a:p>
        </p:txBody>
      </p:sp>
      <p:sp>
        <p:nvSpPr>
          <p:cNvPr id="16" name="Shape 14"/>
          <p:cNvSpPr/>
          <p:nvPr/>
        </p:nvSpPr>
        <p:spPr>
          <a:xfrm>
            <a:off x="402336" y="3493008"/>
            <a:ext cx="3895344" cy="420624"/>
          </a:xfrm>
          <a:prstGeom prst="roundRect">
            <a:avLst>
              <a:gd name="adj" fmla="val 13043"/>
            </a:avLst>
          </a:prstGeom>
          <a:solidFill>
            <a:srgbClr val="FFFFFF">
              <a:alpha val="12000"/>
            </a:srgbClr>
          </a:solidFill>
          <a:ln w="12700">
            <a:solidFill>
              <a:srgbClr val="6FA3E8"/>
            </a:solidFill>
            <a:prstDash val="solid"/>
          </a:ln>
        </p:spPr>
        <p:txBody>
          <a:bodyPr/>
          <a:lstStyle/>
          <a:p>
            <a:endParaRPr lang="en-AU"/>
          </a:p>
        </p:txBody>
      </p:sp>
      <p:sp>
        <p:nvSpPr>
          <p:cNvPr id="17" name="Text 15"/>
          <p:cNvSpPr/>
          <p:nvPr/>
        </p:nvSpPr>
        <p:spPr>
          <a:xfrm>
            <a:off x="512064" y="3493008"/>
            <a:ext cx="3694176" cy="420624"/>
          </a:xfrm>
          <a:prstGeom prst="rect">
            <a:avLst/>
          </a:prstGeom>
          <a:noFill/>
          <a:ln/>
        </p:spPr>
        <p:txBody>
          <a:bodyPr wrap="square" rtlCol="0" anchor="ctr"/>
          <a:lstStyle/>
          <a:p>
            <a:pPr marL="0" indent="0">
              <a:buNone/>
            </a:pPr>
            <a:r>
              <a:rPr lang="en-US" sz="1150" dirty="0">
                <a:solidFill>
                  <a:srgbClr val="FFFFFF"/>
                </a:solidFill>
              </a:rPr>
              <a:t>Jurisdiction-specific logic embedded at build time, not patched in later.</a:t>
            </a:r>
            <a:endParaRPr lang="en-US" sz="1150" dirty="0"/>
          </a:p>
        </p:txBody>
      </p:sp>
      <p:sp>
        <p:nvSpPr>
          <p:cNvPr id="18" name="Shape 16"/>
          <p:cNvSpPr/>
          <p:nvPr/>
        </p:nvSpPr>
        <p:spPr>
          <a:xfrm>
            <a:off x="402336" y="3986784"/>
            <a:ext cx="3895344" cy="420624"/>
          </a:xfrm>
          <a:prstGeom prst="roundRect">
            <a:avLst>
              <a:gd name="adj" fmla="val 13043"/>
            </a:avLst>
          </a:prstGeom>
          <a:solidFill>
            <a:srgbClr val="FFFFFF">
              <a:alpha val="12000"/>
            </a:srgbClr>
          </a:solidFill>
          <a:ln w="12700">
            <a:solidFill>
              <a:srgbClr val="6FA3E8"/>
            </a:solidFill>
            <a:prstDash val="solid"/>
          </a:ln>
        </p:spPr>
        <p:txBody>
          <a:bodyPr/>
          <a:lstStyle/>
          <a:p>
            <a:endParaRPr lang="en-AU"/>
          </a:p>
        </p:txBody>
      </p:sp>
      <p:sp>
        <p:nvSpPr>
          <p:cNvPr id="19" name="Text 17"/>
          <p:cNvSpPr/>
          <p:nvPr/>
        </p:nvSpPr>
        <p:spPr>
          <a:xfrm>
            <a:off x="512064" y="3986784"/>
            <a:ext cx="3694176" cy="420624"/>
          </a:xfrm>
          <a:prstGeom prst="rect">
            <a:avLst/>
          </a:prstGeom>
          <a:noFill/>
          <a:ln/>
        </p:spPr>
        <p:txBody>
          <a:bodyPr wrap="square" rtlCol="0" anchor="ctr"/>
          <a:lstStyle/>
          <a:p>
            <a:pPr marL="0" indent="0">
              <a:buNone/>
            </a:pPr>
            <a:r>
              <a:rPr lang="en-US" sz="1150" dirty="0">
                <a:solidFill>
                  <a:srgbClr val="FFFFFF"/>
                </a:solidFill>
              </a:rPr>
              <a:t>Platform lives on your infrastructure. No vendor lock-in.</a:t>
            </a:r>
            <a:endParaRPr lang="en-US" sz="1150" dirty="0"/>
          </a:p>
        </p:txBody>
      </p:sp>
      <p:sp>
        <p:nvSpPr>
          <p:cNvPr id="20" name="Shape 18"/>
          <p:cNvSpPr/>
          <p:nvPr/>
        </p:nvSpPr>
        <p:spPr>
          <a:xfrm>
            <a:off x="4718304" y="1078992"/>
            <a:ext cx="4169664" cy="3621024"/>
          </a:xfrm>
          <a:prstGeom prst="roundRect">
            <a:avLst>
              <a:gd name="adj" fmla="val 4040"/>
            </a:avLst>
          </a:prstGeom>
          <a:solidFill>
            <a:srgbClr val="3A7BD5"/>
          </a:solidFill>
          <a:ln w="12700">
            <a:solidFill>
              <a:srgbClr val="3A7BD5"/>
            </a:solidFill>
            <a:prstDash val="solid"/>
          </a:ln>
          <a:effectLst>
            <a:outerShdw blurRad="76200" dist="25400" dir="2700000" algn="bl" rotWithShape="0">
              <a:srgbClr val="1E2761">
                <a:alpha val="8000"/>
              </a:srgbClr>
            </a:outerShdw>
          </a:effectLst>
        </p:spPr>
        <p:txBody>
          <a:bodyPr/>
          <a:lstStyle/>
          <a:p>
            <a:endParaRPr lang="en-AU"/>
          </a:p>
        </p:txBody>
      </p:sp>
      <p:sp>
        <p:nvSpPr>
          <p:cNvPr id="21" name="Shape 19"/>
          <p:cNvSpPr/>
          <p:nvPr/>
        </p:nvSpPr>
        <p:spPr>
          <a:xfrm>
            <a:off x="4956048" y="1170432"/>
            <a:ext cx="3694176" cy="475488"/>
          </a:xfrm>
          <a:prstGeom prst="roundRect">
            <a:avLst>
              <a:gd name="adj" fmla="val 15385"/>
            </a:avLst>
          </a:prstGeom>
          <a:solidFill>
            <a:srgbClr val="1E2761"/>
          </a:solidFill>
          <a:ln w="12700">
            <a:solidFill>
              <a:srgbClr val="1E2761"/>
            </a:solidFill>
            <a:prstDash val="solid"/>
          </a:ln>
        </p:spPr>
        <p:txBody>
          <a:bodyPr/>
          <a:lstStyle/>
          <a:p>
            <a:endParaRPr lang="en-AU"/>
          </a:p>
        </p:txBody>
      </p:sp>
      <p:sp>
        <p:nvSpPr>
          <p:cNvPr id="22" name="Text 20"/>
          <p:cNvSpPr/>
          <p:nvPr/>
        </p:nvSpPr>
        <p:spPr>
          <a:xfrm>
            <a:off x="4956048" y="1170432"/>
            <a:ext cx="3694176" cy="475488"/>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CPO / DPO</a:t>
            </a:r>
            <a:endParaRPr lang="en-US" sz="1700" dirty="0"/>
          </a:p>
        </p:txBody>
      </p:sp>
      <p:sp>
        <p:nvSpPr>
          <p:cNvPr id="23" name="Text 21"/>
          <p:cNvSpPr/>
          <p:nvPr/>
        </p:nvSpPr>
        <p:spPr>
          <a:xfrm>
            <a:off x="4956048" y="1664208"/>
            <a:ext cx="3694176" cy="274320"/>
          </a:xfrm>
          <a:prstGeom prst="rect">
            <a:avLst/>
          </a:prstGeom>
          <a:noFill/>
          <a:ln/>
        </p:spPr>
        <p:txBody>
          <a:bodyPr wrap="square" rtlCol="0" anchor="ctr"/>
          <a:lstStyle/>
          <a:p>
            <a:pPr marL="0" indent="0" algn="ctr">
              <a:buNone/>
            </a:pPr>
            <a:r>
              <a:rPr lang="en-US" sz="1050" i="1" dirty="0">
                <a:solidFill>
                  <a:srgbClr val="FFFFFF"/>
                </a:solidFill>
              </a:rPr>
              <a:t>Chief Privacy / Data Protection Officer</a:t>
            </a:r>
            <a:endParaRPr lang="en-US" sz="1050" dirty="0"/>
          </a:p>
        </p:txBody>
      </p:sp>
      <p:sp>
        <p:nvSpPr>
          <p:cNvPr id="24" name="Shape 22"/>
          <p:cNvSpPr/>
          <p:nvPr/>
        </p:nvSpPr>
        <p:spPr>
          <a:xfrm>
            <a:off x="4846320" y="2011680"/>
            <a:ext cx="3895344" cy="420624"/>
          </a:xfrm>
          <a:prstGeom prst="roundRect">
            <a:avLst>
              <a:gd name="adj" fmla="val 13043"/>
            </a:avLst>
          </a:prstGeom>
          <a:solidFill>
            <a:srgbClr val="FFFFFF">
              <a:alpha val="12000"/>
            </a:srgbClr>
          </a:solidFill>
          <a:ln w="12700">
            <a:solidFill>
              <a:srgbClr val="263380"/>
            </a:solidFill>
            <a:prstDash val="solid"/>
          </a:ln>
        </p:spPr>
        <p:txBody>
          <a:bodyPr/>
          <a:lstStyle/>
          <a:p>
            <a:endParaRPr lang="en-AU"/>
          </a:p>
        </p:txBody>
      </p:sp>
      <p:sp>
        <p:nvSpPr>
          <p:cNvPr id="25" name="Text 23"/>
          <p:cNvSpPr/>
          <p:nvPr/>
        </p:nvSpPr>
        <p:spPr>
          <a:xfrm>
            <a:off x="4956048" y="2011680"/>
            <a:ext cx="3694176" cy="420624"/>
          </a:xfrm>
          <a:prstGeom prst="rect">
            <a:avLst/>
          </a:prstGeom>
          <a:noFill/>
          <a:ln/>
        </p:spPr>
        <p:txBody>
          <a:bodyPr wrap="square" rtlCol="0" anchor="ctr"/>
          <a:lstStyle/>
          <a:p>
            <a:pPr marL="0" indent="0">
              <a:buNone/>
            </a:pPr>
            <a:r>
              <a:rPr lang="en-US" sz="1150" dirty="0">
                <a:solidFill>
                  <a:srgbClr val="FFFFFF"/>
                </a:solidFill>
              </a:rPr>
              <a:t>AI handles DSR queues, consent propagation, breach drafting.</a:t>
            </a:r>
            <a:endParaRPr lang="en-US" sz="1150" dirty="0"/>
          </a:p>
        </p:txBody>
      </p:sp>
      <p:sp>
        <p:nvSpPr>
          <p:cNvPr id="26" name="Shape 24"/>
          <p:cNvSpPr/>
          <p:nvPr/>
        </p:nvSpPr>
        <p:spPr>
          <a:xfrm>
            <a:off x="4846320" y="2505456"/>
            <a:ext cx="3895344" cy="420624"/>
          </a:xfrm>
          <a:prstGeom prst="roundRect">
            <a:avLst>
              <a:gd name="adj" fmla="val 13043"/>
            </a:avLst>
          </a:prstGeom>
          <a:solidFill>
            <a:srgbClr val="FFFFFF">
              <a:alpha val="12000"/>
            </a:srgbClr>
          </a:solidFill>
          <a:ln w="12700">
            <a:solidFill>
              <a:srgbClr val="263380"/>
            </a:solidFill>
            <a:prstDash val="solid"/>
          </a:ln>
        </p:spPr>
        <p:txBody>
          <a:bodyPr/>
          <a:lstStyle/>
          <a:p>
            <a:endParaRPr lang="en-AU"/>
          </a:p>
        </p:txBody>
      </p:sp>
      <p:sp>
        <p:nvSpPr>
          <p:cNvPr id="27" name="Text 25"/>
          <p:cNvSpPr/>
          <p:nvPr/>
        </p:nvSpPr>
        <p:spPr>
          <a:xfrm>
            <a:off x="4956048" y="2505456"/>
            <a:ext cx="3694176" cy="420624"/>
          </a:xfrm>
          <a:prstGeom prst="rect">
            <a:avLst/>
          </a:prstGeom>
          <a:noFill/>
          <a:ln/>
        </p:spPr>
        <p:txBody>
          <a:bodyPr wrap="square" rtlCol="0" anchor="ctr"/>
          <a:lstStyle/>
          <a:p>
            <a:pPr marL="0" indent="0">
              <a:buNone/>
            </a:pPr>
            <a:r>
              <a:rPr lang="en-US" sz="1150" dirty="0">
                <a:solidFill>
                  <a:srgbClr val="FFFFFF"/>
                </a:solidFill>
              </a:rPr>
              <a:t>You focus on judgment, policy, and irreversible decisions.</a:t>
            </a:r>
            <a:endParaRPr lang="en-US" sz="1150" dirty="0"/>
          </a:p>
        </p:txBody>
      </p:sp>
      <p:sp>
        <p:nvSpPr>
          <p:cNvPr id="28" name="Shape 26"/>
          <p:cNvSpPr/>
          <p:nvPr/>
        </p:nvSpPr>
        <p:spPr>
          <a:xfrm>
            <a:off x="4846320" y="2999232"/>
            <a:ext cx="3895344" cy="420624"/>
          </a:xfrm>
          <a:prstGeom prst="roundRect">
            <a:avLst>
              <a:gd name="adj" fmla="val 13043"/>
            </a:avLst>
          </a:prstGeom>
          <a:solidFill>
            <a:srgbClr val="FFFFFF">
              <a:alpha val="12000"/>
            </a:srgbClr>
          </a:solidFill>
          <a:ln w="12700">
            <a:solidFill>
              <a:srgbClr val="263380"/>
            </a:solidFill>
            <a:prstDash val="solid"/>
          </a:ln>
        </p:spPr>
        <p:txBody>
          <a:bodyPr/>
          <a:lstStyle/>
          <a:p>
            <a:endParaRPr lang="en-AU"/>
          </a:p>
        </p:txBody>
      </p:sp>
      <p:sp>
        <p:nvSpPr>
          <p:cNvPr id="29" name="Text 27"/>
          <p:cNvSpPr/>
          <p:nvPr/>
        </p:nvSpPr>
        <p:spPr>
          <a:xfrm>
            <a:off x="4956048" y="2999232"/>
            <a:ext cx="3694176" cy="420624"/>
          </a:xfrm>
          <a:prstGeom prst="rect">
            <a:avLst/>
          </a:prstGeom>
          <a:noFill/>
          <a:ln/>
        </p:spPr>
        <p:txBody>
          <a:bodyPr wrap="square" rtlCol="0" anchor="ctr"/>
          <a:lstStyle/>
          <a:p>
            <a:pPr marL="0" indent="0">
              <a:buNone/>
            </a:pPr>
            <a:r>
              <a:rPr lang="en-US" sz="1150" dirty="0">
                <a:solidFill>
                  <a:srgbClr val="FFFFFF"/>
                </a:solidFill>
              </a:rPr>
              <a:t>Every AI action is logged. Full audit trail. Nothing is a black box.</a:t>
            </a:r>
            <a:endParaRPr lang="en-US" sz="1150" dirty="0"/>
          </a:p>
        </p:txBody>
      </p:sp>
      <p:sp>
        <p:nvSpPr>
          <p:cNvPr id="30" name="Shape 28"/>
          <p:cNvSpPr/>
          <p:nvPr/>
        </p:nvSpPr>
        <p:spPr>
          <a:xfrm>
            <a:off x="4846320" y="3493008"/>
            <a:ext cx="3895344" cy="420624"/>
          </a:xfrm>
          <a:prstGeom prst="roundRect">
            <a:avLst>
              <a:gd name="adj" fmla="val 13043"/>
            </a:avLst>
          </a:prstGeom>
          <a:solidFill>
            <a:srgbClr val="FFFFFF">
              <a:alpha val="12000"/>
            </a:srgbClr>
          </a:solidFill>
          <a:ln w="12700">
            <a:solidFill>
              <a:srgbClr val="263380"/>
            </a:solidFill>
            <a:prstDash val="solid"/>
          </a:ln>
        </p:spPr>
        <p:txBody>
          <a:bodyPr/>
          <a:lstStyle/>
          <a:p>
            <a:endParaRPr lang="en-AU"/>
          </a:p>
        </p:txBody>
      </p:sp>
      <p:sp>
        <p:nvSpPr>
          <p:cNvPr id="31" name="Text 29"/>
          <p:cNvSpPr/>
          <p:nvPr/>
        </p:nvSpPr>
        <p:spPr>
          <a:xfrm>
            <a:off x="4956048" y="3493008"/>
            <a:ext cx="3694176" cy="420624"/>
          </a:xfrm>
          <a:prstGeom prst="rect">
            <a:avLst/>
          </a:prstGeom>
          <a:noFill/>
          <a:ln/>
        </p:spPr>
        <p:txBody>
          <a:bodyPr wrap="square" rtlCol="0" anchor="ctr"/>
          <a:lstStyle/>
          <a:p>
            <a:pPr marL="0" indent="0">
              <a:buNone/>
            </a:pPr>
            <a:r>
              <a:rPr lang="en-US" sz="1150" dirty="0">
                <a:solidFill>
                  <a:srgbClr val="FFFFFF"/>
                </a:solidFill>
              </a:rPr>
              <a:t>Multi-jurisdiction logic runs automatically — AU, GDPR, CCPA, APPI.</a:t>
            </a:r>
            <a:endParaRPr lang="en-US" sz="1150" dirty="0"/>
          </a:p>
        </p:txBody>
      </p:sp>
      <p:sp>
        <p:nvSpPr>
          <p:cNvPr id="32" name="Shape 30"/>
          <p:cNvSpPr/>
          <p:nvPr/>
        </p:nvSpPr>
        <p:spPr>
          <a:xfrm>
            <a:off x="4846320" y="3986784"/>
            <a:ext cx="3895344" cy="420624"/>
          </a:xfrm>
          <a:prstGeom prst="roundRect">
            <a:avLst>
              <a:gd name="adj" fmla="val 13043"/>
            </a:avLst>
          </a:prstGeom>
          <a:solidFill>
            <a:srgbClr val="FFFFFF">
              <a:alpha val="12000"/>
            </a:srgbClr>
          </a:solidFill>
          <a:ln w="12700">
            <a:solidFill>
              <a:srgbClr val="263380"/>
            </a:solidFill>
            <a:prstDash val="solid"/>
          </a:ln>
        </p:spPr>
        <p:txBody>
          <a:bodyPr/>
          <a:lstStyle/>
          <a:p>
            <a:endParaRPr lang="en-AU"/>
          </a:p>
        </p:txBody>
      </p:sp>
      <p:sp>
        <p:nvSpPr>
          <p:cNvPr id="33" name="Text 31"/>
          <p:cNvSpPr/>
          <p:nvPr/>
        </p:nvSpPr>
        <p:spPr>
          <a:xfrm>
            <a:off x="4956048" y="3986784"/>
            <a:ext cx="3694176" cy="420624"/>
          </a:xfrm>
          <a:prstGeom prst="rect">
            <a:avLst/>
          </a:prstGeom>
          <a:noFill/>
          <a:ln/>
        </p:spPr>
        <p:txBody>
          <a:bodyPr wrap="square" rtlCol="0" anchor="ctr"/>
          <a:lstStyle/>
          <a:p>
            <a:pPr marL="0" indent="0">
              <a:buNone/>
            </a:pPr>
            <a:r>
              <a:rPr lang="en-US" sz="1150" dirty="0">
                <a:solidFill>
                  <a:srgbClr val="FFFFFF"/>
                </a:solidFill>
              </a:rPr>
              <a:t>Layer 11 ensures nothing executes without your explicit sign-off.</a:t>
            </a:r>
            <a:endParaRPr lang="en-US" sz="1150" dirty="0"/>
          </a:p>
        </p:txBody>
      </p:sp>
      <p:sp>
        <p:nvSpPr>
          <p:cNvPr id="34" name="Text 32"/>
          <p:cNvSpPr/>
          <p:nvPr/>
        </p:nvSpPr>
        <p:spPr>
          <a:xfrm>
            <a:off x="365760" y="4754880"/>
            <a:ext cx="8046720" cy="274320"/>
          </a:xfrm>
          <a:prstGeom prst="rect">
            <a:avLst/>
          </a:prstGeom>
          <a:noFill/>
          <a:ln/>
        </p:spPr>
        <p:txBody>
          <a:bodyPr wrap="square" rtlCol="0" anchor="ctr"/>
          <a:lstStyle/>
          <a:p>
            <a:pPr marL="0" indent="0" algn="l">
              <a:buNone/>
            </a:pPr>
            <a:r>
              <a:rPr lang="en-US" sz="1100" i="1" dirty="0">
                <a:solidFill>
                  <a:srgbClr val="F59E0B"/>
                </a:solidFill>
              </a:rPr>
              <a:t>AI does not replace your privacy function. It gives it the operational capacity it has never had before.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WHY NOW</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The Conditions Are Right. The Technology Is Ready.</a:t>
            </a:r>
            <a:endParaRPr lang="en-US" sz="22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8</a:t>
            </a:r>
            <a:endParaRPr lang="en-US" sz="900" dirty="0"/>
          </a:p>
        </p:txBody>
      </p:sp>
      <p:sp>
        <p:nvSpPr>
          <p:cNvPr id="6" name="Text 4"/>
          <p:cNvSpPr/>
          <p:nvPr/>
        </p:nvSpPr>
        <p:spPr>
          <a:xfrm>
            <a:off x="457200" y="1042416"/>
            <a:ext cx="8229600" cy="256032"/>
          </a:xfrm>
          <a:prstGeom prst="rect">
            <a:avLst/>
          </a:prstGeom>
          <a:noFill/>
          <a:ln/>
        </p:spPr>
        <p:txBody>
          <a:bodyPr wrap="square" rtlCol="0" anchor="ctr"/>
          <a:lstStyle/>
          <a:p>
            <a:pPr marL="0" indent="0">
              <a:buNone/>
            </a:pPr>
            <a:r>
              <a:rPr lang="en-US" sz="1200" i="1" dirty="0">
                <a:solidFill>
                  <a:srgbClr val="64748B"/>
                </a:solidFill>
              </a:rPr>
              <a:t>Three forces converging in 2024-2025:</a:t>
            </a:r>
            <a:endParaRPr lang="en-US" sz="1200" dirty="0"/>
          </a:p>
        </p:txBody>
      </p:sp>
      <p:sp>
        <p:nvSpPr>
          <p:cNvPr id="7" name="Shape 5"/>
          <p:cNvSpPr/>
          <p:nvPr/>
        </p:nvSpPr>
        <p:spPr>
          <a:xfrm>
            <a:off x="256032" y="1371600"/>
            <a:ext cx="2798064" cy="3310128"/>
          </a:xfrm>
          <a:prstGeom prst="roundRect">
            <a:avLst>
              <a:gd name="adj" fmla="val 4575"/>
            </a:avLst>
          </a:prstGeom>
          <a:solidFill>
            <a:srgbClr val="E8EEF9"/>
          </a:solidFill>
          <a:ln w="12700">
            <a:solidFill>
              <a:srgbClr val="D0DCF5"/>
            </a:solidFill>
            <a:prstDash val="solid"/>
          </a:ln>
          <a:effectLst>
            <a:outerShdw blurRad="76200" dist="25400" dir="2700000" algn="bl" rotWithShape="0">
              <a:srgbClr val="1E2761">
                <a:alpha val="8000"/>
              </a:srgbClr>
            </a:outerShdw>
          </a:effectLst>
        </p:spPr>
        <p:txBody>
          <a:bodyPr/>
          <a:lstStyle/>
          <a:p>
            <a:endParaRPr lang="en-AU"/>
          </a:p>
        </p:txBody>
      </p:sp>
      <p:sp>
        <p:nvSpPr>
          <p:cNvPr id="8" name="Shape 6"/>
          <p:cNvSpPr/>
          <p:nvPr/>
        </p:nvSpPr>
        <p:spPr>
          <a:xfrm>
            <a:off x="256032" y="1371600"/>
            <a:ext cx="2798064" cy="109728"/>
          </a:xfrm>
          <a:prstGeom prst="roundRect">
            <a:avLst>
              <a:gd name="adj" fmla="val 116667"/>
            </a:avLst>
          </a:prstGeom>
          <a:solidFill>
            <a:srgbClr val="1E2761"/>
          </a:solidFill>
          <a:ln w="12700">
            <a:solidFill>
              <a:srgbClr val="1E2761"/>
            </a:solidFill>
            <a:prstDash val="solid"/>
          </a:ln>
        </p:spPr>
        <p:txBody>
          <a:bodyPr/>
          <a:lstStyle/>
          <a:p>
            <a:endParaRPr lang="en-AU"/>
          </a:p>
        </p:txBody>
      </p:sp>
      <p:sp>
        <p:nvSpPr>
          <p:cNvPr id="9" name="Shape 7"/>
          <p:cNvSpPr/>
          <p:nvPr/>
        </p:nvSpPr>
        <p:spPr>
          <a:xfrm>
            <a:off x="1271016" y="1517904"/>
            <a:ext cx="768096" cy="768096"/>
          </a:xfrm>
          <a:prstGeom prst="ellipse">
            <a:avLst/>
          </a:prstGeom>
          <a:solidFill>
            <a:srgbClr val="1E2761"/>
          </a:solidFill>
          <a:ln w="12700">
            <a:solidFill>
              <a:srgbClr val="1E2761"/>
            </a:solidFill>
            <a:prstDash val="solid"/>
          </a:ln>
        </p:spPr>
        <p:txBody>
          <a:bodyPr/>
          <a:lstStyle/>
          <a:p>
            <a:endParaRPr lang="en-AU"/>
          </a:p>
        </p:txBody>
      </p:sp>
      <p:sp>
        <p:nvSpPr>
          <p:cNvPr id="10" name="Text 8"/>
          <p:cNvSpPr/>
          <p:nvPr/>
        </p:nvSpPr>
        <p:spPr>
          <a:xfrm>
            <a:off x="1271016" y="1517904"/>
            <a:ext cx="768096" cy="7680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9"/>
          <p:cNvSpPr/>
          <p:nvPr/>
        </p:nvSpPr>
        <p:spPr>
          <a:xfrm>
            <a:off x="365760" y="2359152"/>
            <a:ext cx="2578608" cy="475488"/>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MCP Protocol — Open Standard</a:t>
            </a:r>
            <a:endParaRPr lang="en-US" sz="1300" dirty="0"/>
          </a:p>
        </p:txBody>
      </p:sp>
      <p:sp>
        <p:nvSpPr>
          <p:cNvPr id="12" name="Text 10"/>
          <p:cNvSpPr/>
          <p:nvPr/>
        </p:nvSpPr>
        <p:spPr>
          <a:xfrm>
            <a:off x="365760" y="2852928"/>
            <a:ext cx="2578608" cy="237744"/>
          </a:xfrm>
          <a:prstGeom prst="rect">
            <a:avLst/>
          </a:prstGeom>
          <a:noFill/>
          <a:ln/>
        </p:spPr>
        <p:txBody>
          <a:bodyPr wrap="square" rtlCol="0" anchor="ctr"/>
          <a:lstStyle/>
          <a:p>
            <a:pPr marL="0" indent="0" algn="ctr">
              <a:buNone/>
            </a:pPr>
            <a:r>
              <a:rPr lang="en-US" sz="950" b="1" dirty="0">
                <a:solidFill>
                  <a:srgbClr val="1E2761"/>
                </a:solidFill>
              </a:rPr>
              <a:t>Model Context Protocol (Linux Foundation, 2024)</a:t>
            </a:r>
            <a:endParaRPr lang="en-US" sz="950" dirty="0"/>
          </a:p>
        </p:txBody>
      </p:sp>
      <p:sp>
        <p:nvSpPr>
          <p:cNvPr id="13" name="Text 11"/>
          <p:cNvSpPr/>
          <p:nvPr/>
        </p:nvSpPr>
        <p:spPr>
          <a:xfrm>
            <a:off x="402336" y="3127248"/>
            <a:ext cx="2505456" cy="1444752"/>
          </a:xfrm>
          <a:prstGeom prst="rect">
            <a:avLst/>
          </a:prstGeom>
          <a:noFill/>
          <a:ln/>
        </p:spPr>
        <p:txBody>
          <a:bodyPr wrap="square" rtlCol="0" anchor="t"/>
          <a:lstStyle/>
          <a:p>
            <a:pPr marL="0" indent="0">
              <a:buNone/>
            </a:pPr>
            <a:r>
              <a:rPr lang="en-US" sz="1100" dirty="0">
                <a:solidFill>
                  <a:srgbClr val="1A1A2E"/>
                </a:solidFill>
              </a:rPr>
              <a:t>AI agents can now connect to any data source, platform, or tool via a single open protocol. The plumbing for AI-native platforms is standardised and production-ready. DataGrail shipped the first privacy MCP server in March 2025.</a:t>
            </a:r>
            <a:endParaRPr lang="en-US" sz="1100" dirty="0"/>
          </a:p>
        </p:txBody>
      </p:sp>
      <p:sp>
        <p:nvSpPr>
          <p:cNvPr id="14" name="Shape 12"/>
          <p:cNvSpPr/>
          <p:nvPr/>
        </p:nvSpPr>
        <p:spPr>
          <a:xfrm>
            <a:off x="3218688" y="1371600"/>
            <a:ext cx="2798064" cy="3310128"/>
          </a:xfrm>
          <a:prstGeom prst="roundRect">
            <a:avLst>
              <a:gd name="adj" fmla="val 4575"/>
            </a:avLst>
          </a:prstGeom>
          <a:solidFill>
            <a:srgbClr val="E8EEF9"/>
          </a:solidFill>
          <a:ln w="12700">
            <a:solidFill>
              <a:srgbClr val="D0DCF5"/>
            </a:solidFill>
            <a:prstDash val="solid"/>
          </a:ln>
          <a:effectLst>
            <a:outerShdw blurRad="76200" dist="25400" dir="2700000" algn="bl" rotWithShape="0">
              <a:srgbClr val="1E2761">
                <a:alpha val="8000"/>
              </a:srgbClr>
            </a:outerShdw>
          </a:effectLst>
        </p:spPr>
        <p:txBody>
          <a:bodyPr/>
          <a:lstStyle/>
          <a:p>
            <a:endParaRPr lang="en-AU"/>
          </a:p>
        </p:txBody>
      </p:sp>
      <p:sp>
        <p:nvSpPr>
          <p:cNvPr id="15" name="Shape 13"/>
          <p:cNvSpPr/>
          <p:nvPr/>
        </p:nvSpPr>
        <p:spPr>
          <a:xfrm>
            <a:off x="3218688" y="1371600"/>
            <a:ext cx="2798064" cy="109728"/>
          </a:xfrm>
          <a:prstGeom prst="roundRect">
            <a:avLst>
              <a:gd name="adj" fmla="val 116667"/>
            </a:avLst>
          </a:prstGeom>
          <a:solidFill>
            <a:srgbClr val="3A7BD5"/>
          </a:solidFill>
          <a:ln w="12700">
            <a:solidFill>
              <a:srgbClr val="3A7BD5"/>
            </a:solidFill>
            <a:prstDash val="solid"/>
          </a:ln>
        </p:spPr>
        <p:txBody>
          <a:bodyPr/>
          <a:lstStyle/>
          <a:p>
            <a:endParaRPr lang="en-AU"/>
          </a:p>
        </p:txBody>
      </p:sp>
      <p:sp>
        <p:nvSpPr>
          <p:cNvPr id="16" name="Shape 14"/>
          <p:cNvSpPr/>
          <p:nvPr/>
        </p:nvSpPr>
        <p:spPr>
          <a:xfrm>
            <a:off x="4233672" y="1517904"/>
            <a:ext cx="768096" cy="768096"/>
          </a:xfrm>
          <a:prstGeom prst="ellipse">
            <a:avLst/>
          </a:prstGeom>
          <a:solidFill>
            <a:srgbClr val="3A7BD5"/>
          </a:solidFill>
          <a:ln w="12700">
            <a:solidFill>
              <a:srgbClr val="3A7BD5"/>
            </a:solidFill>
            <a:prstDash val="solid"/>
          </a:ln>
        </p:spPr>
        <p:txBody>
          <a:bodyPr/>
          <a:lstStyle/>
          <a:p>
            <a:endParaRPr lang="en-AU"/>
          </a:p>
        </p:txBody>
      </p:sp>
      <p:sp>
        <p:nvSpPr>
          <p:cNvPr id="17" name="Text 15"/>
          <p:cNvSpPr/>
          <p:nvPr/>
        </p:nvSpPr>
        <p:spPr>
          <a:xfrm>
            <a:off x="4233672" y="1517904"/>
            <a:ext cx="768096" cy="7680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8" name="Text 16"/>
          <p:cNvSpPr/>
          <p:nvPr/>
        </p:nvSpPr>
        <p:spPr>
          <a:xfrm>
            <a:off x="3328416" y="2359152"/>
            <a:ext cx="2578608" cy="475488"/>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LLM Maturity — Complex Reasoning</a:t>
            </a:r>
            <a:endParaRPr lang="en-US" sz="1300" dirty="0"/>
          </a:p>
        </p:txBody>
      </p:sp>
      <p:sp>
        <p:nvSpPr>
          <p:cNvPr id="19" name="Text 17"/>
          <p:cNvSpPr/>
          <p:nvPr/>
        </p:nvSpPr>
        <p:spPr>
          <a:xfrm>
            <a:off x="3328416" y="2852928"/>
            <a:ext cx="2578608" cy="237744"/>
          </a:xfrm>
          <a:prstGeom prst="rect">
            <a:avLst/>
          </a:prstGeom>
          <a:noFill/>
          <a:ln/>
        </p:spPr>
        <p:txBody>
          <a:bodyPr wrap="square" rtlCol="0" anchor="ctr"/>
          <a:lstStyle/>
          <a:p>
            <a:pPr marL="0" indent="0" algn="ctr">
              <a:buNone/>
            </a:pPr>
            <a:r>
              <a:rPr lang="en-US" sz="950" b="1" dirty="0">
                <a:solidFill>
                  <a:srgbClr val="3A7BD5"/>
                </a:solidFill>
              </a:rPr>
              <a:t>Claude, GPT-4, Gemini — 2024-2025 generation</a:t>
            </a:r>
            <a:endParaRPr lang="en-US" sz="950" dirty="0"/>
          </a:p>
        </p:txBody>
      </p:sp>
      <p:sp>
        <p:nvSpPr>
          <p:cNvPr id="20" name="Text 18"/>
          <p:cNvSpPr/>
          <p:nvPr/>
        </p:nvSpPr>
        <p:spPr>
          <a:xfrm>
            <a:off x="3364992" y="3127248"/>
            <a:ext cx="2505456" cy="1444752"/>
          </a:xfrm>
          <a:prstGeom prst="rect">
            <a:avLst/>
          </a:prstGeom>
          <a:noFill/>
          <a:ln/>
        </p:spPr>
        <p:txBody>
          <a:bodyPr wrap="square" rtlCol="0" anchor="t"/>
          <a:lstStyle/>
          <a:p>
            <a:pPr marL="0" indent="0">
              <a:buNone/>
            </a:pPr>
            <a:r>
              <a:rPr lang="en-US" sz="1100" dirty="0">
                <a:solidFill>
                  <a:srgbClr val="1A1A2E"/>
                </a:solidFill>
              </a:rPr>
              <a:t>Current LLMs can reason across jurisdiction-specific regulatory rules, draft compliant notices, score risk across multiple frameworks, and orchestrate multi-step privacy workflows. This capability emerged reliably only in the past 18 months.</a:t>
            </a:r>
            <a:endParaRPr lang="en-US" sz="1100" dirty="0"/>
          </a:p>
        </p:txBody>
      </p:sp>
      <p:sp>
        <p:nvSpPr>
          <p:cNvPr id="21" name="Shape 19"/>
          <p:cNvSpPr/>
          <p:nvPr/>
        </p:nvSpPr>
        <p:spPr>
          <a:xfrm>
            <a:off x="6181344" y="1371600"/>
            <a:ext cx="2798064" cy="3310128"/>
          </a:xfrm>
          <a:prstGeom prst="roundRect">
            <a:avLst>
              <a:gd name="adj" fmla="val 4575"/>
            </a:avLst>
          </a:prstGeom>
          <a:solidFill>
            <a:srgbClr val="E8EEF9"/>
          </a:solidFill>
          <a:ln w="12700">
            <a:solidFill>
              <a:srgbClr val="D0DCF5"/>
            </a:solidFill>
            <a:prstDash val="solid"/>
          </a:ln>
          <a:effectLst>
            <a:outerShdw blurRad="76200" dist="25400" dir="2700000" algn="bl" rotWithShape="0">
              <a:srgbClr val="1E2761">
                <a:alpha val="8000"/>
              </a:srgbClr>
            </a:outerShdw>
          </a:effectLst>
        </p:spPr>
        <p:txBody>
          <a:bodyPr/>
          <a:lstStyle/>
          <a:p>
            <a:endParaRPr lang="en-AU"/>
          </a:p>
        </p:txBody>
      </p:sp>
      <p:sp>
        <p:nvSpPr>
          <p:cNvPr id="22" name="Shape 20"/>
          <p:cNvSpPr/>
          <p:nvPr/>
        </p:nvSpPr>
        <p:spPr>
          <a:xfrm>
            <a:off x="6181344" y="1371600"/>
            <a:ext cx="2798064" cy="109728"/>
          </a:xfrm>
          <a:prstGeom prst="roundRect">
            <a:avLst>
              <a:gd name="adj" fmla="val 116667"/>
            </a:avLst>
          </a:prstGeom>
          <a:solidFill>
            <a:srgbClr val="0D9488"/>
          </a:solidFill>
          <a:ln w="12700">
            <a:solidFill>
              <a:srgbClr val="0D9488"/>
            </a:solidFill>
            <a:prstDash val="solid"/>
          </a:ln>
        </p:spPr>
        <p:txBody>
          <a:bodyPr/>
          <a:lstStyle/>
          <a:p>
            <a:endParaRPr lang="en-AU"/>
          </a:p>
        </p:txBody>
      </p:sp>
      <p:sp>
        <p:nvSpPr>
          <p:cNvPr id="23" name="Shape 21"/>
          <p:cNvSpPr/>
          <p:nvPr/>
        </p:nvSpPr>
        <p:spPr>
          <a:xfrm>
            <a:off x="7196328" y="1517904"/>
            <a:ext cx="768096" cy="768096"/>
          </a:xfrm>
          <a:prstGeom prst="ellipse">
            <a:avLst/>
          </a:prstGeom>
          <a:solidFill>
            <a:srgbClr val="0D9488"/>
          </a:solidFill>
          <a:ln w="12700">
            <a:solidFill>
              <a:srgbClr val="0D9488"/>
            </a:solidFill>
            <a:prstDash val="solid"/>
          </a:ln>
        </p:spPr>
        <p:txBody>
          <a:bodyPr/>
          <a:lstStyle/>
          <a:p>
            <a:endParaRPr lang="en-AU"/>
          </a:p>
        </p:txBody>
      </p:sp>
      <p:sp>
        <p:nvSpPr>
          <p:cNvPr id="24" name="Text 22"/>
          <p:cNvSpPr/>
          <p:nvPr/>
        </p:nvSpPr>
        <p:spPr>
          <a:xfrm>
            <a:off x="7196328" y="1517904"/>
            <a:ext cx="768096" cy="7680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5" name="Text 23"/>
          <p:cNvSpPr/>
          <p:nvPr/>
        </p:nvSpPr>
        <p:spPr>
          <a:xfrm>
            <a:off x="6291072" y="2359152"/>
            <a:ext cx="2578608" cy="475488"/>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Regulatory Acceleration</a:t>
            </a:r>
            <a:endParaRPr lang="en-US" sz="1300" dirty="0"/>
          </a:p>
        </p:txBody>
      </p:sp>
      <p:sp>
        <p:nvSpPr>
          <p:cNvPr id="26" name="Text 24"/>
          <p:cNvSpPr/>
          <p:nvPr/>
        </p:nvSpPr>
        <p:spPr>
          <a:xfrm>
            <a:off x="6291072" y="2852928"/>
            <a:ext cx="2578608" cy="237744"/>
          </a:xfrm>
          <a:prstGeom prst="rect">
            <a:avLst/>
          </a:prstGeom>
          <a:noFill/>
          <a:ln/>
        </p:spPr>
        <p:txBody>
          <a:bodyPr wrap="square" rtlCol="0" anchor="ctr"/>
          <a:lstStyle/>
          <a:p>
            <a:pPr marL="0" indent="0" algn="ctr">
              <a:buNone/>
            </a:pPr>
            <a:r>
              <a:rPr lang="en-US" sz="950" b="1" dirty="0">
                <a:solidFill>
                  <a:srgbClr val="0D9488"/>
                </a:solidFill>
              </a:rPr>
              <a:t>AU Privacy Act reform, EU AI Act, GDPR enforcement</a:t>
            </a:r>
            <a:endParaRPr lang="en-US" sz="950" dirty="0"/>
          </a:p>
        </p:txBody>
      </p:sp>
      <p:sp>
        <p:nvSpPr>
          <p:cNvPr id="27" name="Text 25"/>
          <p:cNvSpPr/>
          <p:nvPr/>
        </p:nvSpPr>
        <p:spPr>
          <a:xfrm>
            <a:off x="6327648" y="3127248"/>
            <a:ext cx="2505456" cy="1444752"/>
          </a:xfrm>
          <a:prstGeom prst="rect">
            <a:avLst/>
          </a:prstGeom>
          <a:noFill/>
          <a:ln/>
        </p:spPr>
        <p:txBody>
          <a:bodyPr wrap="square" rtlCol="0" anchor="t"/>
          <a:lstStyle/>
          <a:p>
            <a:pPr marL="0" indent="0">
              <a:buNone/>
            </a:pPr>
            <a:r>
              <a:rPr lang="en-US" sz="1100" dirty="0">
                <a:solidFill>
                  <a:srgbClr val="1A1A2E"/>
                </a:solidFill>
              </a:rPr>
              <a:t>The compliance surface is expanding faster than human teams can cover it. AU Privacy Act reforms extend obligations significantly. The EU AI Act adds governance requirements. GDPR enforcement actions are increasing in size and frequency.</a:t>
            </a:r>
            <a:endParaRPr lang="en-US" sz="1100" dirty="0"/>
          </a:p>
        </p:txBody>
      </p:sp>
      <p:sp>
        <p:nvSpPr>
          <p:cNvPr id="28" name="Text 26"/>
          <p:cNvSpPr/>
          <p:nvPr/>
        </p:nvSpPr>
        <p:spPr>
          <a:xfrm>
            <a:off x="365760" y="4754880"/>
            <a:ext cx="8046720" cy="274320"/>
          </a:xfrm>
          <a:prstGeom prst="rect">
            <a:avLst/>
          </a:prstGeom>
          <a:noFill/>
          <a:ln/>
        </p:spPr>
        <p:txBody>
          <a:bodyPr wrap="square" rtlCol="0" anchor="ctr"/>
          <a:lstStyle/>
          <a:p>
            <a:pPr marL="0" indent="0" algn="l">
              <a:buNone/>
            </a:pPr>
            <a:r>
              <a:rPr lang="en-US" sz="1100" i="1" dirty="0">
                <a:solidFill>
                  <a:srgbClr val="F59E0B"/>
                </a:solidFill>
              </a:rPr>
              <a:t>Organisations building this capability now will define the standard others follow — not after the regulator asks.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0"/>
            <a:ext cx="8229600" cy="438912"/>
          </a:xfrm>
          <a:prstGeom prst="rect">
            <a:avLst/>
          </a:prstGeom>
          <a:noFill/>
          <a:ln/>
        </p:spPr>
        <p:txBody>
          <a:bodyPr wrap="square" rtlCol="0" anchor="ctr"/>
          <a:lstStyle/>
          <a:p>
            <a:pPr marL="0" indent="0" algn="l">
              <a:buNone/>
            </a:pPr>
            <a:r>
              <a:rPr lang="en-US" sz="1100" b="1" kern="0" spc="300" dirty="0">
                <a:solidFill>
                  <a:srgbClr val="CADCFC"/>
                </a:solidFill>
              </a:rPr>
              <a:t>HOW IT OPERATES</a:t>
            </a:r>
            <a:endParaRPr lang="en-US" sz="1100" dirty="0"/>
          </a:p>
        </p:txBody>
      </p:sp>
      <p:sp>
        <p:nvSpPr>
          <p:cNvPr id="4" name="Text 2"/>
          <p:cNvSpPr/>
          <p:nvPr/>
        </p:nvSpPr>
        <p:spPr>
          <a:xfrm>
            <a:off x="457200" y="457200"/>
            <a:ext cx="8321040" cy="493776"/>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Inside the Platform: AI Agents Operate. Humans Govern.</a:t>
            </a:r>
            <a:endParaRPr lang="en-US" sz="2200" dirty="0"/>
          </a:p>
        </p:txBody>
      </p:sp>
      <p:sp>
        <p:nvSpPr>
          <p:cNvPr id="5" name="Text 3"/>
          <p:cNvSpPr/>
          <p:nvPr/>
        </p:nvSpPr>
        <p:spPr>
          <a:xfrm>
            <a:off x="8503920" y="4892040"/>
            <a:ext cx="411480" cy="182880"/>
          </a:xfrm>
          <a:prstGeom prst="rect">
            <a:avLst/>
          </a:prstGeom>
          <a:noFill/>
          <a:ln/>
        </p:spPr>
        <p:txBody>
          <a:bodyPr wrap="square" rtlCol="0" anchor="ctr"/>
          <a:lstStyle/>
          <a:p>
            <a:pPr marL="0" indent="0" algn="r">
              <a:buNone/>
            </a:pPr>
            <a:r>
              <a:rPr lang="en-US" sz="900" dirty="0">
                <a:solidFill>
                  <a:srgbClr val="64748B"/>
                </a:solidFill>
              </a:rPr>
              <a:t>9</a:t>
            </a:r>
            <a:endParaRPr lang="en-US" sz="900" dirty="0"/>
          </a:p>
        </p:txBody>
      </p:sp>
      <p:sp>
        <p:nvSpPr>
          <p:cNvPr id="6" name="Shape 4"/>
          <p:cNvSpPr/>
          <p:nvPr/>
        </p:nvSpPr>
        <p:spPr>
          <a:xfrm>
            <a:off x="256032" y="1042416"/>
            <a:ext cx="3054096" cy="3730752"/>
          </a:xfrm>
          <a:prstGeom prst="roundRect">
            <a:avLst>
              <a:gd name="adj" fmla="val 3593"/>
            </a:avLst>
          </a:prstGeom>
          <a:solidFill>
            <a:srgbClr val="1E2761"/>
          </a:solidFill>
          <a:ln w="12700">
            <a:solidFill>
              <a:srgbClr val="1E2761"/>
            </a:solidFill>
            <a:prstDash val="solid"/>
          </a:ln>
          <a:effectLst>
            <a:outerShdw blurRad="76200" dist="25400" dir="2700000" algn="bl" rotWithShape="0">
              <a:srgbClr val="1E2761">
                <a:alpha val="8000"/>
              </a:srgbClr>
            </a:outerShdw>
          </a:effectLst>
        </p:spPr>
        <p:txBody>
          <a:bodyPr/>
          <a:lstStyle/>
          <a:p>
            <a:endParaRPr lang="en-AU"/>
          </a:p>
        </p:txBody>
      </p:sp>
      <p:sp>
        <p:nvSpPr>
          <p:cNvPr id="7" name="Shape 5"/>
          <p:cNvSpPr/>
          <p:nvPr/>
        </p:nvSpPr>
        <p:spPr>
          <a:xfrm>
            <a:off x="978408" y="1133856"/>
            <a:ext cx="749808" cy="749808"/>
          </a:xfrm>
          <a:prstGeom prst="ellipse">
            <a:avLst/>
          </a:prstGeom>
          <a:solidFill>
            <a:srgbClr val="3A7BD5"/>
          </a:solidFill>
          <a:ln w="12700">
            <a:solidFill>
              <a:srgbClr val="3A7BD5"/>
            </a:solidFill>
            <a:prstDash val="solid"/>
          </a:ln>
        </p:spPr>
        <p:txBody>
          <a:bodyPr/>
          <a:lstStyle/>
          <a:p>
            <a:endParaRPr lang="en-AU"/>
          </a:p>
        </p:txBody>
      </p:sp>
      <p:sp>
        <p:nvSpPr>
          <p:cNvPr id="8" name="Text 6"/>
          <p:cNvSpPr/>
          <p:nvPr/>
        </p:nvSpPr>
        <p:spPr>
          <a:xfrm>
            <a:off x="978408" y="1133856"/>
            <a:ext cx="749808" cy="7498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TW</a:t>
            </a:r>
            <a:endParaRPr lang="en-US" sz="1600" dirty="0"/>
          </a:p>
        </p:txBody>
      </p:sp>
      <p:sp>
        <p:nvSpPr>
          <p:cNvPr id="9" name="Text 7"/>
          <p:cNvSpPr/>
          <p:nvPr/>
        </p:nvSpPr>
        <p:spPr>
          <a:xfrm>
            <a:off x="256032" y="1938528"/>
            <a:ext cx="3054096" cy="347472"/>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Tom Wallace *</a:t>
            </a:r>
            <a:endParaRPr lang="en-US" sz="1500" dirty="0"/>
          </a:p>
        </p:txBody>
      </p:sp>
      <p:sp>
        <p:nvSpPr>
          <p:cNvPr id="10" name="Text 8"/>
          <p:cNvSpPr/>
          <p:nvPr/>
        </p:nvSpPr>
        <p:spPr>
          <a:xfrm>
            <a:off x="256032" y="2286000"/>
            <a:ext cx="3054096" cy="237744"/>
          </a:xfrm>
          <a:prstGeom prst="rect">
            <a:avLst/>
          </a:prstGeom>
          <a:noFill/>
          <a:ln/>
        </p:spPr>
        <p:txBody>
          <a:bodyPr wrap="square" rtlCol="0" anchor="ctr"/>
          <a:lstStyle/>
          <a:p>
            <a:pPr marL="0" indent="0" algn="ctr">
              <a:buNone/>
            </a:pPr>
            <a:r>
              <a:rPr lang="en-US" sz="950" i="1" dirty="0">
                <a:solidFill>
                  <a:srgbClr val="CADCFC"/>
                </a:solidFill>
              </a:rPr>
              <a:t>Customer ID: CRM-009  |  Fictional</a:t>
            </a:r>
            <a:endParaRPr lang="en-US" sz="950" dirty="0"/>
          </a:p>
        </p:txBody>
      </p:sp>
      <p:sp>
        <p:nvSpPr>
          <p:cNvPr id="11" name="Text 9"/>
          <p:cNvSpPr/>
          <p:nvPr/>
        </p:nvSpPr>
        <p:spPr>
          <a:xfrm>
            <a:off x="347472" y="2578608"/>
            <a:ext cx="2871216" cy="438912"/>
          </a:xfrm>
          <a:prstGeom prst="rect">
            <a:avLst/>
          </a:prstGeom>
          <a:noFill/>
          <a:ln/>
        </p:spPr>
        <p:txBody>
          <a:bodyPr wrap="square" rtlCol="0" anchor="ctr"/>
          <a:lstStyle/>
          <a:p>
            <a:pPr marL="0" indent="0" algn="ctr">
              <a:buNone/>
            </a:pPr>
            <a:r>
              <a:rPr lang="en-US" sz="1050" i="1" dirty="0">
                <a:solidFill>
                  <a:srgbClr val="F59E0B"/>
                </a:solidFill>
              </a:rPr>
              <a:t>One data subject. Seven active violations. Every layer responds.</a:t>
            </a:r>
            <a:endParaRPr lang="en-US" sz="1050" dirty="0"/>
          </a:p>
        </p:txBody>
      </p:sp>
      <p:sp>
        <p:nvSpPr>
          <p:cNvPr id="12" name="Shape 10"/>
          <p:cNvSpPr/>
          <p:nvPr/>
        </p:nvSpPr>
        <p:spPr>
          <a:xfrm>
            <a:off x="384048" y="3090672"/>
            <a:ext cx="2798064" cy="228600"/>
          </a:xfrm>
          <a:prstGeom prst="roundRect">
            <a:avLst>
              <a:gd name="adj" fmla="val 16000"/>
            </a:avLst>
          </a:prstGeom>
          <a:solidFill>
            <a:srgbClr val="DC2626">
              <a:alpha val="30000"/>
            </a:srgbClr>
          </a:solidFill>
          <a:ln w="12700">
            <a:solidFill>
              <a:srgbClr val="DC2626"/>
            </a:solidFill>
            <a:prstDash val="solid"/>
          </a:ln>
        </p:spPr>
        <p:txBody>
          <a:bodyPr/>
          <a:lstStyle/>
          <a:p>
            <a:endParaRPr lang="en-AU"/>
          </a:p>
        </p:txBody>
      </p:sp>
      <p:sp>
        <p:nvSpPr>
          <p:cNvPr id="13" name="Text 11"/>
          <p:cNvSpPr/>
          <p:nvPr/>
        </p:nvSpPr>
        <p:spPr>
          <a:xfrm>
            <a:off x="438912" y="3090672"/>
            <a:ext cx="2688336" cy="228600"/>
          </a:xfrm>
          <a:prstGeom prst="rect">
            <a:avLst/>
          </a:prstGeom>
          <a:noFill/>
          <a:ln/>
        </p:spPr>
        <p:txBody>
          <a:bodyPr wrap="square" rtlCol="0" anchor="ctr"/>
          <a:lstStyle/>
          <a:p>
            <a:pPr marL="0" indent="0">
              <a:buNone/>
            </a:pPr>
            <a:r>
              <a:rPr lang="en-US" sz="950" b="1" dirty="0">
                <a:solidFill>
                  <a:srgbClr val="FFFFFF"/>
                </a:solidFill>
              </a:rPr>
              <a:t>Health data in CRM — no lawful basis</a:t>
            </a:r>
            <a:endParaRPr lang="en-US" sz="950" dirty="0"/>
          </a:p>
        </p:txBody>
      </p:sp>
      <p:sp>
        <p:nvSpPr>
          <p:cNvPr id="14" name="Shape 12"/>
          <p:cNvSpPr/>
          <p:nvPr/>
        </p:nvSpPr>
        <p:spPr>
          <a:xfrm>
            <a:off x="384048" y="3364992"/>
            <a:ext cx="2798064" cy="228600"/>
          </a:xfrm>
          <a:prstGeom prst="roundRect">
            <a:avLst>
              <a:gd name="adj" fmla="val 16000"/>
            </a:avLst>
          </a:prstGeom>
          <a:solidFill>
            <a:srgbClr val="DC2626">
              <a:alpha val="30000"/>
            </a:srgbClr>
          </a:solidFill>
          <a:ln w="12700">
            <a:solidFill>
              <a:srgbClr val="DC2626"/>
            </a:solidFill>
            <a:prstDash val="solid"/>
          </a:ln>
        </p:spPr>
        <p:txBody>
          <a:bodyPr/>
          <a:lstStyle/>
          <a:p>
            <a:endParaRPr lang="en-AU"/>
          </a:p>
        </p:txBody>
      </p:sp>
      <p:sp>
        <p:nvSpPr>
          <p:cNvPr id="15" name="Text 13"/>
          <p:cNvSpPr/>
          <p:nvPr/>
        </p:nvSpPr>
        <p:spPr>
          <a:xfrm>
            <a:off x="438912" y="3364992"/>
            <a:ext cx="2688336" cy="228600"/>
          </a:xfrm>
          <a:prstGeom prst="rect">
            <a:avLst/>
          </a:prstGeom>
          <a:noFill/>
          <a:ln/>
        </p:spPr>
        <p:txBody>
          <a:bodyPr wrap="square" rtlCol="0" anchor="ctr"/>
          <a:lstStyle/>
          <a:p>
            <a:pPr marL="0" indent="0">
              <a:buNone/>
            </a:pPr>
            <a:r>
              <a:rPr lang="en-US" sz="950" b="1" dirty="0">
                <a:solidFill>
                  <a:srgbClr val="FFFFFF"/>
                </a:solidFill>
              </a:rPr>
              <a:t>Consent revoked — not fully honoured</a:t>
            </a:r>
            <a:endParaRPr lang="en-US" sz="950" dirty="0"/>
          </a:p>
        </p:txBody>
      </p:sp>
      <p:sp>
        <p:nvSpPr>
          <p:cNvPr id="16" name="Shape 14"/>
          <p:cNvSpPr/>
          <p:nvPr/>
        </p:nvSpPr>
        <p:spPr>
          <a:xfrm>
            <a:off x="384048" y="3639312"/>
            <a:ext cx="2798064" cy="228600"/>
          </a:xfrm>
          <a:prstGeom prst="roundRect">
            <a:avLst>
              <a:gd name="adj" fmla="val 16000"/>
            </a:avLst>
          </a:prstGeom>
          <a:solidFill>
            <a:srgbClr val="DC2626">
              <a:alpha val="30000"/>
            </a:srgbClr>
          </a:solidFill>
          <a:ln w="12700">
            <a:solidFill>
              <a:srgbClr val="DC2626"/>
            </a:solidFill>
            <a:prstDash val="solid"/>
          </a:ln>
        </p:spPr>
        <p:txBody>
          <a:bodyPr/>
          <a:lstStyle/>
          <a:p>
            <a:endParaRPr lang="en-AU"/>
          </a:p>
        </p:txBody>
      </p:sp>
      <p:sp>
        <p:nvSpPr>
          <p:cNvPr id="17" name="Text 15"/>
          <p:cNvSpPr/>
          <p:nvPr/>
        </p:nvSpPr>
        <p:spPr>
          <a:xfrm>
            <a:off x="438912" y="3639312"/>
            <a:ext cx="2688336" cy="228600"/>
          </a:xfrm>
          <a:prstGeom prst="rect">
            <a:avLst/>
          </a:prstGeom>
          <a:noFill/>
          <a:ln/>
        </p:spPr>
        <p:txBody>
          <a:bodyPr wrap="square" rtlCol="0" anchor="ctr"/>
          <a:lstStyle/>
          <a:p>
            <a:pPr marL="0" indent="0">
              <a:buNone/>
            </a:pPr>
            <a:r>
              <a:rPr lang="en-US" sz="950" b="1" dirty="0">
                <a:solidFill>
                  <a:srgbClr val="FFFFFF"/>
                </a:solidFill>
              </a:rPr>
              <a:t>Hotjar still active: +25 days post opt-out</a:t>
            </a:r>
            <a:endParaRPr lang="en-US" sz="950" dirty="0"/>
          </a:p>
        </p:txBody>
      </p:sp>
      <p:sp>
        <p:nvSpPr>
          <p:cNvPr id="18" name="Shape 16"/>
          <p:cNvSpPr/>
          <p:nvPr/>
        </p:nvSpPr>
        <p:spPr>
          <a:xfrm>
            <a:off x="384048" y="3913632"/>
            <a:ext cx="2798064" cy="228600"/>
          </a:xfrm>
          <a:prstGeom prst="roundRect">
            <a:avLst>
              <a:gd name="adj" fmla="val 16000"/>
            </a:avLst>
          </a:prstGeom>
          <a:solidFill>
            <a:srgbClr val="F59E0B">
              <a:alpha val="30000"/>
            </a:srgbClr>
          </a:solidFill>
          <a:ln w="12700">
            <a:solidFill>
              <a:srgbClr val="F59E0B"/>
            </a:solidFill>
            <a:prstDash val="solid"/>
          </a:ln>
        </p:spPr>
        <p:txBody>
          <a:bodyPr/>
          <a:lstStyle/>
          <a:p>
            <a:endParaRPr lang="en-AU"/>
          </a:p>
        </p:txBody>
      </p:sp>
      <p:sp>
        <p:nvSpPr>
          <p:cNvPr id="19" name="Text 17"/>
          <p:cNvSpPr/>
          <p:nvPr/>
        </p:nvSpPr>
        <p:spPr>
          <a:xfrm>
            <a:off x="438912" y="3913632"/>
            <a:ext cx="2688336" cy="228600"/>
          </a:xfrm>
          <a:prstGeom prst="rect">
            <a:avLst/>
          </a:prstGeom>
          <a:noFill/>
          <a:ln/>
        </p:spPr>
        <p:txBody>
          <a:bodyPr wrap="square" rtlCol="0" anchor="ctr"/>
          <a:lstStyle/>
          <a:p>
            <a:pPr marL="0" indent="0">
              <a:buNone/>
            </a:pPr>
            <a:r>
              <a:rPr lang="en-US" sz="950" b="1" dirty="0">
                <a:solidFill>
                  <a:srgbClr val="FFFFFF"/>
                </a:solidFill>
              </a:rPr>
              <a:t>SAR deadline: 4 days remaining</a:t>
            </a:r>
            <a:endParaRPr lang="en-US" sz="950" dirty="0"/>
          </a:p>
        </p:txBody>
      </p:sp>
      <p:sp>
        <p:nvSpPr>
          <p:cNvPr id="20" name="Shape 18"/>
          <p:cNvSpPr/>
          <p:nvPr/>
        </p:nvSpPr>
        <p:spPr>
          <a:xfrm>
            <a:off x="384048" y="4187952"/>
            <a:ext cx="2798064" cy="228600"/>
          </a:xfrm>
          <a:prstGeom prst="roundRect">
            <a:avLst>
              <a:gd name="adj" fmla="val 16000"/>
            </a:avLst>
          </a:prstGeom>
          <a:solidFill>
            <a:srgbClr val="DC2626">
              <a:alpha val="30000"/>
            </a:srgbClr>
          </a:solidFill>
          <a:ln w="12700">
            <a:solidFill>
              <a:srgbClr val="DC2626"/>
            </a:solidFill>
            <a:prstDash val="solid"/>
          </a:ln>
        </p:spPr>
        <p:txBody>
          <a:bodyPr/>
          <a:lstStyle/>
          <a:p>
            <a:endParaRPr lang="en-AU"/>
          </a:p>
        </p:txBody>
      </p:sp>
      <p:sp>
        <p:nvSpPr>
          <p:cNvPr id="21" name="Text 19"/>
          <p:cNvSpPr/>
          <p:nvPr/>
        </p:nvSpPr>
        <p:spPr>
          <a:xfrm>
            <a:off x="438912" y="4187952"/>
            <a:ext cx="2688336" cy="228600"/>
          </a:xfrm>
          <a:prstGeom prst="rect">
            <a:avLst/>
          </a:prstGeom>
          <a:noFill/>
          <a:ln/>
        </p:spPr>
        <p:txBody>
          <a:bodyPr wrap="square" rtlCol="0" anchor="ctr"/>
          <a:lstStyle/>
          <a:p>
            <a:pPr marL="0" indent="0">
              <a:buNone/>
            </a:pPr>
            <a:r>
              <a:rPr lang="en-US" sz="950" b="1" dirty="0">
                <a:solidFill>
                  <a:srgbClr val="FFFFFF"/>
                </a:solidFill>
              </a:rPr>
              <a:t>Breach reporting windows: lapsed</a:t>
            </a:r>
            <a:endParaRPr lang="en-US" sz="950" dirty="0"/>
          </a:p>
        </p:txBody>
      </p:sp>
      <p:sp>
        <p:nvSpPr>
          <p:cNvPr id="22" name="Shape 20"/>
          <p:cNvSpPr/>
          <p:nvPr/>
        </p:nvSpPr>
        <p:spPr>
          <a:xfrm>
            <a:off x="384048" y="4462272"/>
            <a:ext cx="2798064" cy="228600"/>
          </a:xfrm>
          <a:prstGeom prst="roundRect">
            <a:avLst>
              <a:gd name="adj" fmla="val 16000"/>
            </a:avLst>
          </a:prstGeom>
          <a:solidFill>
            <a:srgbClr val="F59E0B">
              <a:alpha val="30000"/>
            </a:srgbClr>
          </a:solidFill>
          <a:ln w="12700">
            <a:solidFill>
              <a:srgbClr val="F59E0B"/>
            </a:solidFill>
            <a:prstDash val="solid"/>
          </a:ln>
        </p:spPr>
        <p:txBody>
          <a:bodyPr/>
          <a:lstStyle/>
          <a:p>
            <a:endParaRPr lang="en-AU"/>
          </a:p>
        </p:txBody>
      </p:sp>
      <p:sp>
        <p:nvSpPr>
          <p:cNvPr id="23" name="Text 21"/>
          <p:cNvSpPr/>
          <p:nvPr/>
        </p:nvSpPr>
        <p:spPr>
          <a:xfrm>
            <a:off x="438912" y="4462272"/>
            <a:ext cx="2688336" cy="228600"/>
          </a:xfrm>
          <a:prstGeom prst="rect">
            <a:avLst/>
          </a:prstGeom>
          <a:noFill/>
          <a:ln/>
        </p:spPr>
        <p:txBody>
          <a:bodyPr wrap="square" rtlCol="0" anchor="ctr"/>
          <a:lstStyle/>
          <a:p>
            <a:pPr marL="0" indent="0">
              <a:buNone/>
            </a:pPr>
            <a:r>
              <a:rPr lang="en-US" sz="950" b="1" dirty="0">
                <a:solidFill>
                  <a:srgbClr val="FFFFFF"/>
                </a:solidFill>
              </a:rPr>
              <a:t>Risk score: 58 / 100</a:t>
            </a:r>
            <a:endParaRPr lang="en-US" sz="950" dirty="0"/>
          </a:p>
        </p:txBody>
      </p:sp>
      <p:sp>
        <p:nvSpPr>
          <p:cNvPr id="24" name="Text 22"/>
          <p:cNvSpPr/>
          <p:nvPr/>
        </p:nvSpPr>
        <p:spPr>
          <a:xfrm>
            <a:off x="3511296" y="1042416"/>
            <a:ext cx="5376672" cy="292608"/>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How each AI agent responds:</a:t>
            </a:r>
            <a:endParaRPr lang="en-US" sz="1250" dirty="0"/>
          </a:p>
        </p:txBody>
      </p:sp>
      <p:sp>
        <p:nvSpPr>
          <p:cNvPr id="25" name="Shape 23"/>
          <p:cNvSpPr/>
          <p:nvPr/>
        </p:nvSpPr>
        <p:spPr>
          <a:xfrm>
            <a:off x="3511296" y="1389888"/>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26" name="Text 24"/>
          <p:cNvSpPr/>
          <p:nvPr/>
        </p:nvSpPr>
        <p:spPr>
          <a:xfrm>
            <a:off x="3621024" y="1389888"/>
            <a:ext cx="5157216" cy="347472"/>
          </a:xfrm>
          <a:prstGeom prst="rect">
            <a:avLst/>
          </a:prstGeom>
          <a:noFill/>
          <a:ln/>
        </p:spPr>
        <p:txBody>
          <a:bodyPr wrap="square" rtlCol="0" anchor="ctr"/>
          <a:lstStyle/>
          <a:p>
            <a:pPr marL="0" indent="0">
              <a:buNone/>
            </a:pPr>
            <a:r>
              <a:rPr lang="en-US" sz="1000" b="1" dirty="0">
                <a:solidFill>
                  <a:srgbClr val="1E2761"/>
                </a:solidFill>
              </a:rPr>
              <a:t>L1   Discovery  </a:t>
            </a:r>
            <a:r>
              <a:rPr lang="en-US" sz="1000" dirty="0">
                <a:solidFill>
                  <a:srgbClr val="1A1A2E"/>
                </a:solidFill>
              </a:rPr>
              <a:t>Finds health data field in Salesforce CRM — no lawful basis. Flags for DPO.</a:t>
            </a:r>
            <a:endParaRPr lang="en-US" sz="1000" dirty="0"/>
          </a:p>
        </p:txBody>
      </p:sp>
      <p:sp>
        <p:nvSpPr>
          <p:cNvPr id="27" name="Shape 25"/>
          <p:cNvSpPr/>
          <p:nvPr/>
        </p:nvSpPr>
        <p:spPr>
          <a:xfrm>
            <a:off x="3511296" y="1792224"/>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28" name="Text 26"/>
          <p:cNvSpPr/>
          <p:nvPr/>
        </p:nvSpPr>
        <p:spPr>
          <a:xfrm>
            <a:off x="3621024" y="1792224"/>
            <a:ext cx="5157216" cy="347472"/>
          </a:xfrm>
          <a:prstGeom prst="rect">
            <a:avLst/>
          </a:prstGeom>
          <a:noFill/>
          <a:ln/>
        </p:spPr>
        <p:txBody>
          <a:bodyPr wrap="square" rtlCol="0" anchor="ctr"/>
          <a:lstStyle/>
          <a:p>
            <a:pPr marL="0" indent="0">
              <a:buNone/>
            </a:pPr>
            <a:r>
              <a:rPr lang="en-US" sz="1000" b="1" dirty="0">
                <a:solidFill>
                  <a:srgbClr val="1E2761"/>
                </a:solidFill>
              </a:rPr>
              <a:t>L3   Consent  </a:t>
            </a:r>
            <a:r>
              <a:rPr lang="en-US" sz="1000" dirty="0">
                <a:solidFill>
                  <a:srgbClr val="1A1A2E"/>
                </a:solidFill>
              </a:rPr>
              <a:t>Tom's revocation propagated. Hotjar suppression queue updated automatically.</a:t>
            </a:r>
            <a:endParaRPr lang="en-US" sz="1000" dirty="0"/>
          </a:p>
        </p:txBody>
      </p:sp>
      <p:sp>
        <p:nvSpPr>
          <p:cNvPr id="29" name="Shape 27"/>
          <p:cNvSpPr/>
          <p:nvPr/>
        </p:nvSpPr>
        <p:spPr>
          <a:xfrm>
            <a:off x="3511296" y="2194560"/>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30" name="Text 28"/>
          <p:cNvSpPr/>
          <p:nvPr/>
        </p:nvSpPr>
        <p:spPr>
          <a:xfrm>
            <a:off x="3621024" y="2194560"/>
            <a:ext cx="5157216" cy="347472"/>
          </a:xfrm>
          <a:prstGeom prst="rect">
            <a:avLst/>
          </a:prstGeom>
          <a:noFill/>
          <a:ln/>
        </p:spPr>
        <p:txBody>
          <a:bodyPr wrap="square" rtlCol="0" anchor="ctr"/>
          <a:lstStyle/>
          <a:p>
            <a:pPr marL="0" indent="0">
              <a:buNone/>
            </a:pPr>
            <a:r>
              <a:rPr lang="en-US" sz="1000" b="1" dirty="0">
                <a:solidFill>
                  <a:srgbClr val="1E2761"/>
                </a:solidFill>
              </a:rPr>
              <a:t>L4   Cookie  </a:t>
            </a:r>
            <a:r>
              <a:rPr lang="en-US" sz="1000" dirty="0">
                <a:solidFill>
                  <a:srgbClr val="1A1A2E"/>
                </a:solidFill>
              </a:rPr>
              <a:t>Hotjar still active 25 days post opt-out. Violation logged and escalated.</a:t>
            </a:r>
            <a:endParaRPr lang="en-US" sz="1000" dirty="0"/>
          </a:p>
        </p:txBody>
      </p:sp>
      <p:sp>
        <p:nvSpPr>
          <p:cNvPr id="31" name="Shape 29"/>
          <p:cNvSpPr/>
          <p:nvPr/>
        </p:nvSpPr>
        <p:spPr>
          <a:xfrm>
            <a:off x="3511296" y="2596896"/>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32" name="Text 30"/>
          <p:cNvSpPr/>
          <p:nvPr/>
        </p:nvSpPr>
        <p:spPr>
          <a:xfrm>
            <a:off x="3621024" y="2596896"/>
            <a:ext cx="5157216" cy="347472"/>
          </a:xfrm>
          <a:prstGeom prst="rect">
            <a:avLst/>
          </a:prstGeom>
          <a:noFill/>
          <a:ln/>
        </p:spPr>
        <p:txBody>
          <a:bodyPr wrap="square" rtlCol="0" anchor="ctr"/>
          <a:lstStyle/>
          <a:p>
            <a:pPr marL="0" indent="0">
              <a:buNone/>
            </a:pPr>
            <a:r>
              <a:rPr lang="en-US" sz="1000" b="1" dirty="0">
                <a:solidFill>
                  <a:srgbClr val="1E2761"/>
                </a:solidFill>
              </a:rPr>
              <a:t>L6   DSR  </a:t>
            </a:r>
            <a:r>
              <a:rPr lang="en-US" sz="1000" dirty="0">
                <a:solidFill>
                  <a:srgbClr val="1A1A2E"/>
                </a:solidFill>
              </a:rPr>
              <a:t>SAR detected. 4 days from 30-day statutory deadline. Urgency flag raised.</a:t>
            </a:r>
            <a:endParaRPr lang="en-US" sz="1000" dirty="0"/>
          </a:p>
        </p:txBody>
      </p:sp>
      <p:sp>
        <p:nvSpPr>
          <p:cNvPr id="33" name="Shape 31"/>
          <p:cNvSpPr/>
          <p:nvPr/>
        </p:nvSpPr>
        <p:spPr>
          <a:xfrm>
            <a:off x="3511296" y="2999232"/>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34" name="Text 32"/>
          <p:cNvSpPr/>
          <p:nvPr/>
        </p:nvSpPr>
        <p:spPr>
          <a:xfrm>
            <a:off x="3621024" y="2999232"/>
            <a:ext cx="5157216" cy="347472"/>
          </a:xfrm>
          <a:prstGeom prst="rect">
            <a:avLst/>
          </a:prstGeom>
          <a:noFill/>
          <a:ln/>
        </p:spPr>
        <p:txBody>
          <a:bodyPr wrap="square" rtlCol="0" anchor="ctr"/>
          <a:lstStyle/>
          <a:p>
            <a:pPr marL="0" indent="0">
              <a:buNone/>
            </a:pPr>
            <a:r>
              <a:rPr lang="en-US" sz="1000" b="1" dirty="0">
                <a:solidFill>
                  <a:srgbClr val="1E2761"/>
                </a:solidFill>
              </a:rPr>
              <a:t>L8   Risk  </a:t>
            </a:r>
            <a:r>
              <a:rPr lang="en-US" sz="1000" dirty="0">
                <a:solidFill>
                  <a:srgbClr val="1A1A2E"/>
                </a:solidFill>
              </a:rPr>
              <a:t>Privacy risk score: 58/100. 2 critical, 4 high findings. DPO briefing drafted.</a:t>
            </a:r>
            <a:endParaRPr lang="en-US" sz="1000" dirty="0"/>
          </a:p>
        </p:txBody>
      </p:sp>
      <p:sp>
        <p:nvSpPr>
          <p:cNvPr id="35" name="Shape 33"/>
          <p:cNvSpPr/>
          <p:nvPr/>
        </p:nvSpPr>
        <p:spPr>
          <a:xfrm>
            <a:off x="3511296" y="3401568"/>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36" name="Text 34"/>
          <p:cNvSpPr/>
          <p:nvPr/>
        </p:nvSpPr>
        <p:spPr>
          <a:xfrm>
            <a:off x="3621024" y="3401568"/>
            <a:ext cx="5157216" cy="347472"/>
          </a:xfrm>
          <a:prstGeom prst="rect">
            <a:avLst/>
          </a:prstGeom>
          <a:noFill/>
          <a:ln/>
        </p:spPr>
        <p:txBody>
          <a:bodyPr wrap="square" rtlCol="0" anchor="ctr"/>
          <a:lstStyle/>
          <a:p>
            <a:pPr marL="0" indent="0">
              <a:buNone/>
            </a:pPr>
            <a:r>
              <a:rPr lang="en-US" sz="1000" b="1" dirty="0">
                <a:solidFill>
                  <a:srgbClr val="1E2761"/>
                </a:solidFill>
              </a:rPr>
              <a:t>L9   Breach  </a:t>
            </a:r>
            <a:r>
              <a:rPr lang="en-US" sz="1000" dirty="0">
                <a:solidFill>
                  <a:srgbClr val="1A1A2E"/>
                </a:solidFill>
              </a:rPr>
              <a:t>Notifiable breach confirmed. ICO and OAIC windows expired. Draft queued.</a:t>
            </a:r>
            <a:endParaRPr lang="en-US" sz="1000" dirty="0"/>
          </a:p>
        </p:txBody>
      </p:sp>
      <p:sp>
        <p:nvSpPr>
          <p:cNvPr id="37" name="Shape 35"/>
          <p:cNvSpPr/>
          <p:nvPr/>
        </p:nvSpPr>
        <p:spPr>
          <a:xfrm>
            <a:off x="3511296" y="3803904"/>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38" name="Text 36"/>
          <p:cNvSpPr/>
          <p:nvPr/>
        </p:nvSpPr>
        <p:spPr>
          <a:xfrm>
            <a:off x="3621024" y="3803904"/>
            <a:ext cx="5157216" cy="347472"/>
          </a:xfrm>
          <a:prstGeom prst="rect">
            <a:avLst/>
          </a:prstGeom>
          <a:noFill/>
          <a:ln/>
        </p:spPr>
        <p:txBody>
          <a:bodyPr wrap="square" rtlCol="0" anchor="ctr"/>
          <a:lstStyle/>
          <a:p>
            <a:pPr marL="0" indent="0">
              <a:buNone/>
            </a:pPr>
            <a:r>
              <a:rPr lang="en-US" sz="1000" b="1" dirty="0">
                <a:solidFill>
                  <a:srgbClr val="1E2761"/>
                </a:solidFill>
              </a:rPr>
              <a:t>L10 Assessment  </a:t>
            </a:r>
            <a:r>
              <a:rPr lang="en-US" sz="1000" dirty="0">
                <a:solidFill>
                  <a:srgbClr val="1A1A2E"/>
                </a:solidFill>
              </a:rPr>
              <a:t>Health data DPIA triggered. Assessment drafted in 0 days. No human delay.</a:t>
            </a:r>
            <a:endParaRPr lang="en-US" sz="1000" dirty="0"/>
          </a:p>
        </p:txBody>
      </p:sp>
      <p:sp>
        <p:nvSpPr>
          <p:cNvPr id="39" name="Shape 37"/>
          <p:cNvSpPr/>
          <p:nvPr/>
        </p:nvSpPr>
        <p:spPr>
          <a:xfrm>
            <a:off x="3511296" y="4206240"/>
            <a:ext cx="5376672" cy="347472"/>
          </a:xfrm>
          <a:prstGeom prst="roundRect">
            <a:avLst>
              <a:gd name="adj" fmla="val 15789"/>
            </a:avLst>
          </a:prstGeom>
          <a:solidFill>
            <a:srgbClr val="E8EEF9"/>
          </a:solidFill>
          <a:ln w="12700">
            <a:solidFill>
              <a:srgbClr val="D0DCF5"/>
            </a:solidFill>
            <a:prstDash val="solid"/>
          </a:ln>
        </p:spPr>
        <p:txBody>
          <a:bodyPr/>
          <a:lstStyle/>
          <a:p>
            <a:endParaRPr lang="en-AU"/>
          </a:p>
        </p:txBody>
      </p:sp>
      <p:sp>
        <p:nvSpPr>
          <p:cNvPr id="40" name="Text 38"/>
          <p:cNvSpPr/>
          <p:nvPr/>
        </p:nvSpPr>
        <p:spPr>
          <a:xfrm>
            <a:off x="3621024" y="4206240"/>
            <a:ext cx="5157216" cy="347472"/>
          </a:xfrm>
          <a:prstGeom prst="rect">
            <a:avLst/>
          </a:prstGeom>
          <a:noFill/>
          <a:ln/>
        </p:spPr>
        <p:txBody>
          <a:bodyPr wrap="square" rtlCol="0" anchor="ctr"/>
          <a:lstStyle/>
          <a:p>
            <a:pPr marL="0" indent="0">
              <a:buNone/>
            </a:pPr>
            <a:r>
              <a:rPr lang="en-US" sz="1000" b="1" dirty="0">
                <a:solidFill>
                  <a:srgbClr val="1E2761"/>
                </a:solidFill>
              </a:rPr>
              <a:t>L11 Governance  </a:t>
            </a:r>
            <a:r>
              <a:rPr lang="en-US" sz="1000" dirty="0">
                <a:solidFill>
                  <a:srgbClr val="1A1A2E"/>
                </a:solidFill>
              </a:rPr>
              <a:t>All 6 irreversible actions queued. DPO approves each before execution.</a:t>
            </a:r>
            <a:endParaRPr lang="en-US" sz="1000" dirty="0"/>
          </a:p>
        </p:txBody>
      </p:sp>
      <p:sp>
        <p:nvSpPr>
          <p:cNvPr id="41" name="Text 39"/>
          <p:cNvSpPr/>
          <p:nvPr/>
        </p:nvSpPr>
        <p:spPr>
          <a:xfrm>
            <a:off x="3511296" y="4572000"/>
            <a:ext cx="5376672" cy="256032"/>
          </a:xfrm>
          <a:prstGeom prst="rect">
            <a:avLst/>
          </a:prstGeom>
          <a:noFill/>
          <a:ln/>
        </p:spPr>
        <p:txBody>
          <a:bodyPr wrap="square" rtlCol="0" anchor="ctr"/>
          <a:lstStyle/>
          <a:p>
            <a:pPr marL="0" indent="0" algn="l">
              <a:buNone/>
            </a:pPr>
            <a:r>
              <a:rPr lang="en-US" sz="1100" i="1" dirty="0">
                <a:solidFill>
                  <a:srgbClr val="F59E0B"/>
                </a:solidFill>
              </a:rPr>
              <a:t>The agent found every issue. It acted on nothing without permission.</a:t>
            </a:r>
            <a:endParaRPr lang="en-US" sz="1100" dirty="0"/>
          </a:p>
        </p:txBody>
      </p:sp>
      <p:sp>
        <p:nvSpPr>
          <p:cNvPr id="42" name="Text 40"/>
          <p:cNvSpPr/>
          <p:nvPr/>
        </p:nvSpPr>
        <p:spPr>
          <a:xfrm>
            <a:off x="256032" y="4782312"/>
            <a:ext cx="8595360" cy="164592"/>
          </a:xfrm>
          <a:prstGeom prst="rect">
            <a:avLst/>
          </a:prstGeom>
          <a:noFill/>
          <a:ln/>
        </p:spPr>
        <p:txBody>
          <a:bodyPr wrap="square" rtlCol="0" anchor="ctr"/>
          <a:lstStyle/>
          <a:p>
            <a:pPr marL="0" indent="0">
              <a:buNone/>
            </a:pPr>
            <a:r>
              <a:rPr lang="en-US" sz="850" i="1" dirty="0">
                <a:solidFill>
                  <a:srgbClr val="64748B"/>
                </a:solidFill>
              </a:rPr>
              <a:t>* Tom Wallace is a fictional data subject created for this prototype demonstration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1720</Words>
  <Application>Microsoft Office PowerPoint</Application>
  <PresentationFormat>On-screen Show (16:9)</PresentationFormat>
  <Paragraphs>219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AI-Native Governance &amp; Privacy Management Platform</dc:title>
  <dc:subject>PrivacyCo AI-Native Privacy Management Platform POC</dc:subject>
  <dc:creator>Abhishek Sinha</dc:creator>
  <cp:lastModifiedBy>Abhishek Sinha</cp:lastModifiedBy>
  <cp:revision>1</cp:revision>
  <dcterms:created xsi:type="dcterms:W3CDTF">2026-06-19T00:58:27Z</dcterms:created>
  <dcterms:modified xsi:type="dcterms:W3CDTF">2026-06-19T01:02:43Z</dcterms:modified>
</cp:coreProperties>
</file>
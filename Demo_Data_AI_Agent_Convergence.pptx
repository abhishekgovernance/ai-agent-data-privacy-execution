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bhishekgovernance.github.io/Ai-Agent-Data-Privacy-Execution/Demo_Data_AI_Agent_Convergence.html" TargetMode="External"/><Relationship Id="rId4" Type="http://schemas.openxmlformats.org/officeDocument/2006/relationships/hyperlink" Target="https://abhishekgovernance.github.io/Ai-Agent-Data-Privacy-Execution/Demo_Data_AI_Agent_Convergence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162B5C"/>
          </a:solidFill>
          <a:ln cap="flat" cmpd="sng" w="12700">
            <a:solidFill>
              <a:srgbClr val="162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162B5C"/>
          </a:solidFill>
          <a:ln cap="flat" cmpd="sng" w="12700">
            <a:solidFill>
              <a:srgbClr val="162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1874520"/>
            <a:ext cx="9144000" cy="36576"/>
          </a:xfrm>
          <a:prstGeom prst="rect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1325880"/>
            <a:ext cx="2286000" cy="347472"/>
          </a:xfrm>
          <a:prstGeom prst="roundRect">
            <a:avLst>
              <a:gd fmla="val 15789" name="adj"/>
            </a:avLst>
          </a:prstGeom>
          <a:solidFill>
            <a:srgbClr val="1D3A7A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1344168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MCP PROTOCOL — POC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993392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Using AI Agents in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Privacy Operations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40156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with Governance Guardrails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07112B"/>
          </a:solidFill>
          <a:ln cap="flat" cmpd="sng" w="12700">
            <a:solidFill>
              <a:srgbClr val="0711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Abhishek Sinha</a:t>
            </a:r>
            <a:r>
              <a:rPr b="0" i="0" lang="en-US" sz="12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   |   </a:t>
            </a: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Governance, Privacy &amp; AI Convergence</a:t>
            </a:r>
            <a:r>
              <a:rPr b="0" i="0" lang="en-US" sz="12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   |   June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See It Live — Interactive Demo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4"/>
          <p:cNvCxnSpPr/>
          <p:nvPr/>
        </p:nvCxnSpPr>
        <p:spPr>
          <a:xfrm>
            <a:off x="457200" y="71323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4A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 not take our word for it. Open it on your browser right now.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1152144"/>
            <a:ext cx="8229600" cy="1005840"/>
          </a:xfrm>
          <a:prstGeom prst="roundRect">
            <a:avLst>
              <a:gd fmla="val 9091" name="adj"/>
            </a:avLst>
          </a:prstGeom>
          <a:solidFill>
            <a:srgbClr val="07112B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85800" y="1225296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>
            <a:hlinkClick r:id="rId3"/>
          </p:cNvPr>
          <p:cNvSpPr/>
          <p:nvPr/>
        </p:nvSpPr>
        <p:spPr>
          <a:xfrm>
            <a:off x="685800" y="1444752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1" i="0" lang="en-US" sz="12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https://abhishekgovernance.github.io/Ai-Agent-Data-Privacy-Execution/Demo_Data_AI_Agent_Convergence.html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Using AI agents to conduct: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2615184"/>
            <a:ext cx="411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Discovery across multiple source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Executing DSR / Information access requests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54880" y="2615184"/>
            <a:ext cx="411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DPIA and Remediations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Privacy Platform Agnostic — DataGrail, Purview, BigID and more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Every finding, every guardrail, every audit log entry shown in this deck is live in the demo.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Privacy Teams Cannot Keep Up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5"/>
          <p:cNvCxnSpPr/>
          <p:nvPr/>
        </p:nvCxnSpPr>
        <p:spPr>
          <a:xfrm>
            <a:off x="457200" y="71323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4A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5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problem is not capability. It is scale.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11480" y="1298448"/>
            <a:ext cx="2651760" cy="3017520"/>
          </a:xfrm>
          <a:prstGeom prst="roundRect">
            <a:avLst>
              <a:gd fmla="val 3448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11480" y="148132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216712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Regulatory Overload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2624328"/>
            <a:ext cx="23774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Australian Privacy Act, GDPR, NDB Scheme, CCPA — across multiple jurisdictions simultaneously.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246120" y="1298448"/>
            <a:ext cx="2651760" cy="3017520"/>
          </a:xfrm>
          <a:prstGeom prst="roundRect">
            <a:avLst>
              <a:gd fmla="val 3448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3246120" y="148132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383280" y="216712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DSR Volume Rising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383280" y="2624328"/>
            <a:ext cx="23774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tracking, missed deadlines, direct regulatory exposure as volumes grow.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080760" y="1298448"/>
            <a:ext cx="2651760" cy="3017520"/>
          </a:xfrm>
          <a:prstGeom prst="roundRect">
            <a:avLst>
              <a:gd fmla="val 3448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080760" y="148132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217920" y="216712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Reactive Risk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217920" y="2624328"/>
            <a:ext cx="23774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registers, DPIAs, vendor assessments — siloed across spreadsheets, managed reactively.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AI agents do not replace privacy professionals. They do the reactive, repetitive work — so professionals can focus on judgement, decisions, and stakeholder engagement.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What MCP Makes Possible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6"/>
          <p:cNvCxnSpPr/>
          <p:nvPr/>
        </p:nvCxnSpPr>
        <p:spPr>
          <a:xfrm>
            <a:off x="457200" y="71323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4A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6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MCP connects AI agent to privacy platform only. Source system connectors remain the platform's responsibility — this is not a universal connector standard.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65760" y="1261872"/>
            <a:ext cx="4023360" cy="3493008"/>
          </a:xfrm>
          <a:prstGeom prst="roundRect">
            <a:avLst>
              <a:gd fmla="val 2618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365760" y="1353312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40080" y="1536192"/>
            <a:ext cx="3474720" cy="566928"/>
          </a:xfrm>
          <a:prstGeom prst="roundRect">
            <a:avLst>
              <a:gd fmla="val 12903" name="adj"/>
            </a:avLst>
          </a:prstGeom>
          <a:solidFill>
            <a:srgbClr val="1A3A7A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AI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40080" y="18288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Anthropic  —  claude-sonnet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6"/>
          <p:cNvCxnSpPr/>
          <p:nvPr/>
        </p:nvCxnSpPr>
        <p:spPr>
          <a:xfrm>
            <a:off x="2377440" y="2103120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8A9B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6"/>
          <p:cNvSpPr/>
          <p:nvPr/>
        </p:nvSpPr>
        <p:spPr>
          <a:xfrm>
            <a:off x="502920" y="223113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↕  MCP Protocol — open standard, Linux Foundation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2377440" y="2432304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8A9B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6"/>
          <p:cNvSpPr/>
          <p:nvPr/>
        </p:nvSpPr>
        <p:spPr>
          <a:xfrm>
            <a:off x="365760" y="2560320"/>
            <a:ext cx="4023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PRIVACY PLATFORM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40080" y="2743200"/>
            <a:ext cx="1691640" cy="420624"/>
          </a:xfrm>
          <a:prstGeom prst="roundRect">
            <a:avLst>
              <a:gd fmla="val 15217" name="adj"/>
            </a:avLst>
          </a:prstGeom>
          <a:solidFill>
            <a:srgbClr val="0A2A1A"/>
          </a:solidFill>
          <a:ln cap="flat" cmpd="sng" w="12700">
            <a:solidFill>
              <a:srgbClr val="3AA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40080" y="2743200"/>
            <a:ext cx="1691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DSR Register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423160" y="2743200"/>
            <a:ext cx="1691640" cy="420624"/>
          </a:xfrm>
          <a:prstGeom prst="roundRect">
            <a:avLst>
              <a:gd fmla="val 15217" name="adj"/>
            </a:avLst>
          </a:prstGeom>
          <a:solidFill>
            <a:srgbClr val="0A2A1A"/>
          </a:solidFill>
          <a:ln cap="flat" cmpd="sng" w="12700">
            <a:solidFill>
              <a:srgbClr val="3AA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2423160" y="2743200"/>
            <a:ext cx="1691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Register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40080" y="3264408"/>
            <a:ext cx="1691640" cy="420624"/>
          </a:xfrm>
          <a:prstGeom prst="roundRect">
            <a:avLst>
              <a:gd fmla="val 15217" name="adj"/>
            </a:avLst>
          </a:prstGeom>
          <a:solidFill>
            <a:srgbClr val="0A2A1A"/>
          </a:solidFill>
          <a:ln cap="flat" cmpd="sng" w="12700">
            <a:solidFill>
              <a:srgbClr val="3AA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40080" y="3264408"/>
            <a:ext cx="1691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DPIA Schedule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2423160" y="3264408"/>
            <a:ext cx="1691640" cy="420624"/>
          </a:xfrm>
          <a:prstGeom prst="roundRect">
            <a:avLst>
              <a:gd fmla="val 15217" name="adj"/>
            </a:avLst>
          </a:prstGeom>
          <a:solidFill>
            <a:srgbClr val="0A2A1A"/>
          </a:solidFill>
          <a:ln cap="flat" cmpd="sng" w="12700">
            <a:solidFill>
              <a:srgbClr val="3AA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2423160" y="3264408"/>
            <a:ext cx="16916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6"/>
          <p:cNvCxnSpPr/>
          <p:nvPr/>
        </p:nvCxnSpPr>
        <p:spPr>
          <a:xfrm>
            <a:off x="2377440" y="3685032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8A9B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6"/>
          <p:cNvSpPr/>
          <p:nvPr/>
        </p:nvSpPr>
        <p:spPr>
          <a:xfrm>
            <a:off x="457200" y="381304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↕  Platform connectors (built by privacy platform — not MCP)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6"/>
          <p:cNvCxnSpPr/>
          <p:nvPr/>
        </p:nvCxnSpPr>
        <p:spPr>
          <a:xfrm>
            <a:off x="2377440" y="4014216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8A9B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6"/>
          <p:cNvSpPr/>
          <p:nvPr/>
        </p:nvSpPr>
        <p:spPr>
          <a:xfrm>
            <a:off x="365760" y="4142232"/>
            <a:ext cx="402336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SOURCE SYSTEMS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40080" y="4306824"/>
            <a:ext cx="1109472" cy="384048"/>
          </a:xfrm>
          <a:prstGeom prst="roundRect">
            <a:avLst>
              <a:gd fmla="val 16667" name="adj"/>
            </a:avLst>
          </a:prstGeom>
          <a:solidFill>
            <a:srgbClr val="2A1800"/>
          </a:solidFill>
          <a:ln cap="flat" cmpd="sng" w="12700">
            <a:solidFill>
              <a:srgbClr val="D49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640080" y="4306824"/>
            <a:ext cx="1109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Salesforce CRM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822704" y="4306824"/>
            <a:ext cx="1109472" cy="384048"/>
          </a:xfrm>
          <a:prstGeom prst="roundRect">
            <a:avLst>
              <a:gd fmla="val 16667" name="adj"/>
            </a:avLst>
          </a:prstGeom>
          <a:solidFill>
            <a:srgbClr val="2A1800"/>
          </a:solidFill>
          <a:ln cap="flat" cmpd="sng" w="12700">
            <a:solidFill>
              <a:srgbClr val="D49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1822704" y="4306824"/>
            <a:ext cx="1109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Workday HR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005328" y="4306824"/>
            <a:ext cx="1109472" cy="384048"/>
          </a:xfrm>
          <a:prstGeom prst="roundRect">
            <a:avLst>
              <a:gd fmla="val 16667" name="adj"/>
            </a:avLst>
          </a:prstGeom>
          <a:solidFill>
            <a:srgbClr val="2A1800"/>
          </a:solidFill>
          <a:ln cap="flat" cmpd="sng" w="12700">
            <a:solidFill>
              <a:srgbClr val="D49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3005328" y="4306824"/>
            <a:ext cx="1109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Oracle HCM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663440" y="1298448"/>
            <a:ext cx="42519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MCP (Model Context Protocol) — open standard created by Anthropic, now governed by the Linux Foundation, adopted by Claude, ChatGPT, Microsoft Copilot, and Google.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 MCP-compatible AI agent can connect to any MCP-enabled privacy platform — DataGrail, OneTrust, BigID, Collibra.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DataGrail shipped the first production privacy MCP server in March 2026 — the ecosystem is 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Six Guardrails — Built In, Not Bolted 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457200" y="71323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4A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Governance is not a constraint on AI — it is what makes AI trustworthy enough to deploy.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11480" y="1325880"/>
            <a:ext cx="4023360" cy="1005840"/>
          </a:xfrm>
          <a:prstGeom prst="roundRect">
            <a:avLst>
              <a:gd fmla="val 7273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21208" y="1645920"/>
            <a:ext cx="365760" cy="365760"/>
          </a:xfrm>
          <a:prstGeom prst="ellipse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21208" y="1645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005840" y="1417320"/>
            <a:ext cx="3310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Privacy by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005840" y="1755648"/>
            <a:ext cx="3310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Governance embedded in agent architecture from the start.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663440" y="1325880"/>
            <a:ext cx="4023360" cy="1005840"/>
          </a:xfrm>
          <a:prstGeom prst="roundRect">
            <a:avLst>
              <a:gd fmla="val 7273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4773168" y="1645920"/>
            <a:ext cx="365760" cy="365760"/>
          </a:xfrm>
          <a:prstGeom prst="ellipse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773168" y="1645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257800" y="1417320"/>
            <a:ext cx="3310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Human in the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257800" y="1755648"/>
            <a:ext cx="3310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irreversible action without explicit human approval.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11480" y="2468880"/>
            <a:ext cx="4023360" cy="1005840"/>
          </a:xfrm>
          <a:prstGeom prst="roundRect">
            <a:avLst>
              <a:gd fmla="val 7273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521208" y="2788920"/>
            <a:ext cx="365760" cy="365760"/>
          </a:xfrm>
          <a:prstGeom prst="ellipse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21208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005840" y="2560320"/>
            <a:ext cx="3310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Minimisation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005840" y="2898648"/>
            <a:ext cx="3310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reads only what each task requires. No raw personal data retained.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663440" y="2468880"/>
            <a:ext cx="4023360" cy="1005840"/>
          </a:xfrm>
          <a:prstGeom prst="roundRect">
            <a:avLst>
              <a:gd fmla="val 7273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773168" y="2788920"/>
            <a:ext cx="365760" cy="365760"/>
          </a:xfrm>
          <a:prstGeom prst="ellipse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773168" y="2788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257800" y="2560320"/>
            <a:ext cx="3310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Full Audit Trail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257800" y="2898648"/>
            <a:ext cx="3310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action logged with timestamp, scope, and guardrail applied.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11480" y="3611880"/>
            <a:ext cx="4023360" cy="1005840"/>
          </a:xfrm>
          <a:prstGeom prst="roundRect">
            <a:avLst>
              <a:gd fmla="val 7273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21208" y="3931920"/>
            <a:ext cx="365760" cy="365760"/>
          </a:xfrm>
          <a:prstGeom prst="ellipse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21208" y="3931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005840" y="3703320"/>
            <a:ext cx="3310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Purpose Limitation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005840" y="4041648"/>
            <a:ext cx="3310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confined strictly to its defined operational scope.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663440" y="3611880"/>
            <a:ext cx="4023360" cy="1005840"/>
          </a:xfrm>
          <a:prstGeom prst="roundRect">
            <a:avLst>
              <a:gd fmla="val 7273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773168" y="3931920"/>
            <a:ext cx="365760" cy="365760"/>
          </a:xfrm>
          <a:prstGeom prst="ellipse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773168" y="39319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257800" y="3703320"/>
            <a:ext cx="33101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257800" y="4041648"/>
            <a:ext cx="33101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declares its own access scope in every output.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Every scenario in this POC demonstrates all six guardrails simultaneously — not as a checkbox, but as operating architecture.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Technology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8"/>
          <p:cNvCxnSpPr/>
          <p:nvPr/>
        </p:nvCxnSpPr>
        <p:spPr>
          <a:xfrm>
            <a:off x="457200" y="71323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4A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8"/>
          <p:cNvSpPr/>
          <p:nvPr/>
        </p:nvSpPr>
        <p:spPr>
          <a:xfrm>
            <a:off x="320040" y="804672"/>
            <a:ext cx="8503920" cy="4160520"/>
          </a:xfrm>
          <a:prstGeom prst="roundRect">
            <a:avLst>
              <a:gd fmla="val 2637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320040" y="896112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108960" y="1124712"/>
            <a:ext cx="2926080" cy="658368"/>
          </a:xfrm>
          <a:prstGeom prst="roundRect">
            <a:avLst>
              <a:gd fmla="val 13889" name="adj"/>
            </a:avLst>
          </a:prstGeom>
          <a:solidFill>
            <a:srgbClr val="1A3A7A"/>
          </a:solidFill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108960" y="1152144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AI Agent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108960" y="1463040"/>
            <a:ext cx="2926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Anthropic  —  claude-sonnet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8"/>
          <p:cNvCxnSpPr/>
          <p:nvPr/>
        </p:nvCxnSpPr>
        <p:spPr>
          <a:xfrm>
            <a:off x="4572000" y="178308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8A9B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8"/>
          <p:cNvSpPr/>
          <p:nvPr/>
        </p:nvSpPr>
        <p:spPr>
          <a:xfrm>
            <a:off x="777240" y="1965960"/>
            <a:ext cx="7589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↕   MCP Protocol — open standard, Linux Foundation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8"/>
          <p:cNvCxnSpPr/>
          <p:nvPr/>
        </p:nvCxnSpPr>
        <p:spPr>
          <a:xfrm>
            <a:off x="4572000" y="2185416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8A9B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8"/>
          <p:cNvSpPr/>
          <p:nvPr/>
        </p:nvSpPr>
        <p:spPr>
          <a:xfrm>
            <a:off x="320040" y="2368296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PRIVACY PLATFORM  (SIMULATED VIA GOOGLE DRIVE)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777240" y="2596896"/>
            <a:ext cx="1794510" cy="512064"/>
          </a:xfrm>
          <a:prstGeom prst="roundRect">
            <a:avLst>
              <a:gd fmla="val 14286" name="adj"/>
            </a:avLst>
          </a:prstGeom>
          <a:solidFill>
            <a:srgbClr val="0A2A1A"/>
          </a:solidFill>
          <a:ln cap="flat" cmpd="sng" w="19050">
            <a:solidFill>
              <a:srgbClr val="3AA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777240" y="2596896"/>
            <a:ext cx="179451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DSR Register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708910" y="2596896"/>
            <a:ext cx="1794510" cy="512064"/>
          </a:xfrm>
          <a:prstGeom prst="roundRect">
            <a:avLst>
              <a:gd fmla="val 14286" name="adj"/>
            </a:avLst>
          </a:prstGeom>
          <a:solidFill>
            <a:srgbClr val="0A2A1A"/>
          </a:solidFill>
          <a:ln cap="flat" cmpd="sng" w="19050">
            <a:solidFill>
              <a:srgbClr val="3AA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708910" y="2596896"/>
            <a:ext cx="179451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Register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640580" y="2596896"/>
            <a:ext cx="1794510" cy="512064"/>
          </a:xfrm>
          <a:prstGeom prst="roundRect">
            <a:avLst>
              <a:gd fmla="val 14286" name="adj"/>
            </a:avLst>
          </a:prstGeom>
          <a:solidFill>
            <a:srgbClr val="0A2A1A"/>
          </a:solidFill>
          <a:ln cap="flat" cmpd="sng" w="19050">
            <a:solidFill>
              <a:srgbClr val="3AA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640580" y="2596896"/>
            <a:ext cx="179451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DPIA Schedule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572250" y="2596896"/>
            <a:ext cx="1794510" cy="512064"/>
          </a:xfrm>
          <a:prstGeom prst="roundRect">
            <a:avLst>
              <a:gd fmla="val 14286" name="adj"/>
            </a:avLst>
          </a:prstGeom>
          <a:solidFill>
            <a:srgbClr val="0A2A1A"/>
          </a:solidFill>
          <a:ln cap="flat" cmpd="sng" w="19050">
            <a:solidFill>
              <a:srgbClr val="3AA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572250" y="2596896"/>
            <a:ext cx="179451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8"/>
          <p:cNvCxnSpPr/>
          <p:nvPr/>
        </p:nvCxnSpPr>
        <p:spPr>
          <a:xfrm>
            <a:off x="4572000" y="3108960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8A9B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8"/>
          <p:cNvSpPr/>
          <p:nvPr/>
        </p:nvSpPr>
        <p:spPr>
          <a:xfrm>
            <a:off x="777240" y="3291840"/>
            <a:ext cx="7589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↕   Platform connectors  (built by privacy platform — not MCP)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8"/>
          <p:cNvCxnSpPr/>
          <p:nvPr/>
        </p:nvCxnSpPr>
        <p:spPr>
          <a:xfrm>
            <a:off x="4572000" y="3511296"/>
            <a:ext cx="0" cy="182880"/>
          </a:xfrm>
          <a:prstGeom prst="straightConnector1">
            <a:avLst/>
          </a:prstGeom>
          <a:noFill/>
          <a:ln cap="flat" cmpd="sng" w="19050">
            <a:solidFill>
              <a:srgbClr val="8A9B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8"/>
          <p:cNvSpPr/>
          <p:nvPr/>
        </p:nvSpPr>
        <p:spPr>
          <a:xfrm>
            <a:off x="320040" y="3694176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SOURCE SYSTEMS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77240" y="3913632"/>
            <a:ext cx="2407920" cy="512064"/>
          </a:xfrm>
          <a:prstGeom prst="roundRect">
            <a:avLst>
              <a:gd fmla="val 14286" name="adj"/>
            </a:avLst>
          </a:prstGeom>
          <a:solidFill>
            <a:srgbClr val="2A1800"/>
          </a:solidFill>
          <a:ln cap="flat" cmpd="sng" w="19050">
            <a:solidFill>
              <a:srgbClr val="D49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777240" y="3913632"/>
            <a:ext cx="2407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Salesforce CRM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368040" y="3913632"/>
            <a:ext cx="2407920" cy="512064"/>
          </a:xfrm>
          <a:prstGeom prst="roundRect">
            <a:avLst>
              <a:gd fmla="val 14286" name="adj"/>
            </a:avLst>
          </a:prstGeom>
          <a:solidFill>
            <a:srgbClr val="2A1800"/>
          </a:solidFill>
          <a:ln cap="flat" cmpd="sng" w="19050">
            <a:solidFill>
              <a:srgbClr val="D49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3368040" y="3913632"/>
            <a:ext cx="2407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Workday HR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958840" y="3913632"/>
            <a:ext cx="2407920" cy="512064"/>
          </a:xfrm>
          <a:prstGeom prst="roundRect">
            <a:avLst>
              <a:gd fmla="val 14286" name="adj"/>
            </a:avLst>
          </a:prstGeom>
          <a:solidFill>
            <a:srgbClr val="2A1800"/>
          </a:solidFill>
          <a:ln cap="flat" cmpd="sng" w="19050">
            <a:solidFill>
              <a:srgbClr val="D49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5958840" y="3913632"/>
            <a:ext cx="2407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Oracle HCM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8"/>
          <p:cNvCxnSpPr/>
          <p:nvPr/>
        </p:nvCxnSpPr>
        <p:spPr>
          <a:xfrm>
            <a:off x="594360" y="4553712"/>
            <a:ext cx="7955280" cy="0"/>
          </a:xfrm>
          <a:prstGeom prst="straightConnector1">
            <a:avLst/>
          </a:prstGeom>
          <a:noFill/>
          <a:ln cap="flat" cmpd="sng" w="9525">
            <a:solidFill>
              <a:srgbClr val="2A4A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8"/>
          <p:cNvSpPr/>
          <p:nvPr/>
        </p:nvSpPr>
        <p:spPr>
          <a:xfrm>
            <a:off x="594360" y="461772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MCP connects AI agent ↔ privacy platform only.  Source system connectors remain the privacy platform’s engineering responsibility.  DataGrail shipped the first production privacy MCP server in March 2026.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What Was Demonstrated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9"/>
          <p:cNvCxnSpPr/>
          <p:nvPr/>
        </p:nvCxnSpPr>
        <p:spPr>
          <a:xfrm>
            <a:off x="457200" y="71323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4A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9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Four scenarios. One governed AI agent. Zero autonomous irreversible actions.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11480" y="1261872"/>
            <a:ext cx="8321040" cy="694944"/>
          </a:xfrm>
          <a:prstGeom prst="roundRect">
            <a:avLst>
              <a:gd fmla="val 10526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02920" y="1353312"/>
            <a:ext cx="457200" cy="512064"/>
          </a:xfrm>
          <a:prstGeom prst="roundRect">
            <a:avLst>
              <a:gd fmla="val 12000" name="adj"/>
            </a:avLst>
          </a:prstGeom>
          <a:solidFill>
            <a:srgbClr val="1A3A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502920" y="1353312"/>
            <a:ext cx="457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78992" y="1335024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Personal Data Discovery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78992" y="1609344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scanned 3 systems, classified 32 fields, detected health data (special category) in a CRM where it should not be. Flagged for DPO review — not deleted autonomously.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11480" y="2048256"/>
            <a:ext cx="8321040" cy="694944"/>
          </a:xfrm>
          <a:prstGeom prst="roundRect">
            <a:avLst>
              <a:gd fmla="val 10526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02920" y="2139696"/>
            <a:ext cx="457200" cy="512064"/>
          </a:xfrm>
          <a:prstGeom prst="roundRect">
            <a:avLst>
              <a:gd fmla="val 12000" name="adj"/>
            </a:avLst>
          </a:prstGeom>
          <a:solidFill>
            <a:srgbClr val="0D5E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02920" y="2139696"/>
            <a:ext cx="457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078992" y="212140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DSR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078992" y="239572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identified 3 overdue requests — one 26 days past deadline. Drafted escalation email. Waited for explicit human approval before sending.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11480" y="2834640"/>
            <a:ext cx="8321040" cy="694944"/>
          </a:xfrm>
          <a:prstGeom prst="roundRect">
            <a:avLst>
              <a:gd fmla="val 10526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502920" y="2926080"/>
            <a:ext cx="457200" cy="512064"/>
          </a:xfrm>
          <a:prstGeom prst="roundRect">
            <a:avLst>
              <a:gd fmla="val 12000" name="adj"/>
            </a:avLst>
          </a:prstGeom>
          <a:solidFill>
            <a:srgbClr val="0968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502920" y="2926080"/>
            <a:ext cx="457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078992" y="29077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Risk 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078992" y="3182112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scored 8 open privacy risks, produced prioritised DPO briefing with regulatory references. Recommendations only — no records modified.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11480" y="3621024"/>
            <a:ext cx="8321040" cy="694944"/>
          </a:xfrm>
          <a:prstGeom prst="roundRect">
            <a:avLst>
              <a:gd fmla="val 10526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502920" y="3712464"/>
            <a:ext cx="457200" cy="512064"/>
          </a:xfrm>
          <a:prstGeom prst="roundRect">
            <a:avLst>
              <a:gd fmla="val 12000" name="adj"/>
            </a:avLst>
          </a:prstGeom>
          <a:solidFill>
            <a:srgbClr val="7A3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02920" y="3712464"/>
            <a:ext cx="457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078992" y="3694176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Assessment Deadline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078992" y="3968496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tracked 6 DPIAs, detected 2 workload conflicts and a cross-register dependency chain — without being explicitly instructed to look for them.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The agent found things humans had missed. It acted on nothing without permission.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What the Agent Did — And Did Not Do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0"/>
          <p:cNvCxnSpPr/>
          <p:nvPr/>
        </p:nvCxnSpPr>
        <p:spPr>
          <a:xfrm>
            <a:off x="457200" y="71323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4A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0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zeros on the right are as important as the numbers on the left.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365760" y="1298448"/>
            <a:ext cx="4023360" cy="3108960"/>
          </a:xfrm>
          <a:prstGeom prst="roundRect">
            <a:avLst>
              <a:gd fmla="val 2941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502920" y="138988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✅  What the agent DID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02920" y="1755648"/>
            <a:ext cx="3749040" cy="2523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Scanned 3 source systems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Classified 32 personal data fields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Detected 1 critical anomaly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Identified 3 overdue DSRs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Scored 8 risks with regulatory mapping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Tracked 6 DPIAs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Logged 17 actions in audit trail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Surfaced 2 workload conflicts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Detected 1 cross-register dependency chain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709160" y="1298448"/>
            <a:ext cx="4023360" cy="3108960"/>
          </a:xfrm>
          <a:prstGeom prst="roundRect">
            <a:avLst>
              <a:gd fmla="val 2941" name="adj"/>
            </a:avLst>
          </a:prstGeom>
          <a:solidFill>
            <a:srgbClr val="15080A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846320" y="138988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4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C040"/>
                </a:solidFill>
                <a:latin typeface="Calibri"/>
                <a:ea typeface="Calibri"/>
                <a:cs typeface="Calibri"/>
                <a:sym typeface="Calibri"/>
              </a:rPr>
              <a:t>🚫  What the agent did NOT 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846320" y="1755648"/>
            <a:ext cx="3749040" cy="2523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raw personal data values —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Take any irreversible action autonomously —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 any communication without human approval —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Modify any register or record —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Operate outside its defined scope —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6583680" y="2560320"/>
            <a:ext cx="3200400" cy="3200400"/>
          </a:xfrm>
          <a:prstGeom prst="ellipse">
            <a:avLst/>
          </a:prstGeom>
          <a:solidFill>
            <a:srgbClr val="162B5C"/>
          </a:solidFill>
          <a:ln cap="flat" cmpd="sng" w="12700">
            <a:solidFill>
              <a:srgbClr val="162B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What This Means for Your Organisation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1"/>
          <p:cNvCxnSpPr/>
          <p:nvPr/>
        </p:nvCxnSpPr>
        <p:spPr>
          <a:xfrm>
            <a:off x="457200" y="71323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A4A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1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organisations that will lead on responsible AI are the ones building the governance framework now — not after the regulator asks.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11480" y="1325880"/>
            <a:ext cx="8138160" cy="868680"/>
          </a:xfrm>
          <a:prstGeom prst="roundRect">
            <a:avLst>
              <a:gd fmla="val 9474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530352" y="1572768"/>
            <a:ext cx="365760" cy="365760"/>
          </a:xfrm>
          <a:prstGeom prst="ellipse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530352" y="15727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024128" y="1417320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This is operational now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024128" y="1728216"/>
            <a:ext cx="6949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technology stack exists, the standards are live, the platforms are MCP-ready. This is not a pilot for 2027.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11480" y="2286000"/>
            <a:ext cx="8138160" cy="868680"/>
          </a:xfrm>
          <a:prstGeom prst="roundRect">
            <a:avLst>
              <a:gd fmla="val 9474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530352" y="2532888"/>
            <a:ext cx="365760" cy="365760"/>
          </a:xfrm>
          <a:prstGeom prst="ellipse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530352" y="2532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024128" y="2377440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governance framework is the differentiator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024128" y="2688336"/>
            <a:ext cx="6949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Connecting an AI agent to a privacy platform is the easy part. Designing it to be accountable, auditable, and human-supervised is where the value 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11480" y="3246120"/>
            <a:ext cx="8138160" cy="868680"/>
          </a:xfrm>
          <a:prstGeom prst="roundRect">
            <a:avLst>
              <a:gd fmla="val 9474" name="adj"/>
            </a:avLst>
          </a:prstGeom>
          <a:solidFill>
            <a:srgbClr val="1A2E5E"/>
          </a:solidFill>
          <a:ln>
            <a:noFill/>
          </a:ln>
          <a:effectLst>
            <a:outerShdw blurRad="101600" rotWithShape="0" algn="bl" dir="27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530352" y="3493008"/>
            <a:ext cx="365760" cy="365760"/>
          </a:xfrm>
          <a:prstGeom prst="ellipse">
            <a:avLst/>
          </a:prstGeom>
          <a:solidFill>
            <a:srgbClr val="F0C040"/>
          </a:solidFill>
          <a:ln cap="flat" cmpd="sng" w="12700">
            <a:solidFill>
              <a:srgbClr val="F0C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530352" y="34930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1024128" y="3337560"/>
            <a:ext cx="6949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1024128" y="3648456"/>
            <a:ext cx="6949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Organisations that build this capability now — with Privacy by Design, human oversight, and full audit trail — will define the standard others follow.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07112B"/>
          </a:solidFill>
          <a:ln cap="flat" cmpd="sng" w="12700">
            <a:solidFill>
              <a:srgbClr val="0711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457200" y="44074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Abhishek Sinha</a:t>
            </a:r>
            <a:r>
              <a:rPr b="0" i="0" lang="en-US" sz="11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Governance, Privacy &amp; AI Convergence</a:t>
            </a:r>
            <a:r>
              <a:rPr b="0" i="0" lang="en-US" sz="115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   ·   sinhaabhi13@gmail.com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8732520" y="4846320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B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B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